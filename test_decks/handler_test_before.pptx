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9144000" cy="1371600"/>
          </a:xfrm>
          <a:prstGeom prst="rect">
            <a:avLst/>
          </a:prstGeom>
          <a:noFill/>
        </p:spPr>
        <p:txBody>
          <a:bodyPr wrap="square">
            <a:spAutoFit/>
          </a:bodyPr>
          <a:lstStyle/>
          <a:p>
            <a:r>
              <a:rPr sz="4400" b="1">
                <a:solidFill>
                  <a:srgbClr val="1E1E50"/>
                </a:solidFill>
                <a:latin typeface="Arial"/>
              </a:rPr>
              <a:t>Executive Leadership Programme 2025</a:t>
            </a:r>
          </a:p>
        </p:txBody>
      </p:sp>
      <p:sp>
        <p:nvSpPr>
          <p:cNvPr id="3" name="TextBox 2"/>
          <p:cNvSpPr txBox="1"/>
          <p:nvPr/>
        </p:nvSpPr>
        <p:spPr>
          <a:xfrm>
            <a:off x="914400" y="2926080"/>
            <a:ext cx="7315200" cy="548640"/>
          </a:xfrm>
          <a:prstGeom prst="rect">
            <a:avLst/>
          </a:prstGeom>
          <a:noFill/>
        </p:spPr>
        <p:txBody>
          <a:bodyPr wrap="square">
            <a:spAutoFit/>
          </a:bodyPr>
          <a:lstStyle/>
          <a:p>
            <a:r>
              <a:rPr sz="2200">
                <a:solidFill>
                  <a:srgbClr val="646464"/>
                </a:solidFill>
                <a:latin typeface="Arial"/>
              </a:rPr>
              <a:t>Building Resilient Organisations in a Changing World</a:t>
            </a:r>
          </a:p>
        </p:txBody>
      </p:sp>
      <p:sp>
        <p:nvSpPr>
          <p:cNvPr id="4" name="TextBox 3"/>
          <p:cNvSpPr txBox="1"/>
          <p:nvPr/>
        </p:nvSpPr>
        <p:spPr>
          <a:xfrm>
            <a:off x="914400" y="4114800"/>
            <a:ext cx="4572000" cy="457200"/>
          </a:xfrm>
          <a:prstGeom prst="rect">
            <a:avLst/>
          </a:prstGeom>
          <a:noFill/>
        </p:spPr>
        <p:txBody>
          <a:bodyPr wrap="square">
            <a:spAutoFit/>
          </a:bodyPr>
          <a:lstStyle/>
          <a:p>
            <a:r>
              <a:rPr sz="1400">
                <a:solidFill>
                  <a:srgbClr val="787878"/>
                </a:solidFill>
                <a:latin typeface="Arial"/>
              </a:rPr>
              <a:t>Professor Jane Smith | UQ Business School</a:t>
            </a:r>
          </a:p>
        </p:txBody>
      </p:sp>
      <p:sp>
        <p:nvSpPr>
          <p:cNvPr id="5" name="TextBox 4"/>
          <p:cNvSpPr txBox="1"/>
          <p:nvPr/>
        </p:nvSpPr>
        <p:spPr>
          <a:xfrm>
            <a:off x="914400" y="4754880"/>
            <a:ext cx="4572000" cy="457200"/>
          </a:xfrm>
          <a:prstGeom prst="rect">
            <a:avLst/>
          </a:prstGeom>
          <a:noFill/>
        </p:spPr>
        <p:txBody>
          <a:bodyPr wrap="square">
            <a:spAutoFit/>
          </a:bodyPr>
          <a:lstStyle/>
          <a:p>
            <a:r>
              <a:rPr sz="1200">
                <a:solidFill>
                  <a:srgbClr val="969696"/>
                </a:solidFill>
                <a:latin typeface="Arial"/>
              </a:rPr>
              <a:t>March 2025 | Brisbane, Australia</a:t>
            </a:r>
          </a:p>
        </p:txBody>
      </p:sp>
      <p:sp>
        <p:nvSpPr>
          <p:cNvPr id="6" name="TextBox 5"/>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Cover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Acknowledgement of Country</a:t>
            </a:r>
          </a:p>
        </p:txBody>
      </p:sp>
      <p:sp>
        <p:nvSpPr>
          <p:cNvPr id="3" name="TextBox 2"/>
          <p:cNvSpPr txBox="1"/>
          <p:nvPr/>
        </p:nvSpPr>
        <p:spPr>
          <a:xfrm>
            <a:off x="457200" y="1371600"/>
            <a:ext cx="8229600" cy="2743200"/>
          </a:xfrm>
          <a:prstGeom prst="rect">
            <a:avLst/>
          </a:prstGeom>
          <a:noFill/>
        </p:spPr>
        <p:txBody>
          <a:bodyPr wrap="square">
            <a:spAutoFit/>
          </a:bodyPr>
          <a:lstStyle/>
          <a:p>
            <a:r>
              <a:rPr sz="1600">
                <a:solidFill>
                  <a:srgbClr val="3C3C3C"/>
                </a:solidFill>
                <a:latin typeface="Arial"/>
              </a:rPr>
              <a:t>We acknowledge the Traditional Owners and their custodianship of the lands on which UQ operates. We pay our respects to their Ancestors and their descendants, who continue cultural and spiritual connections to Country. We recognise their valuable contributions to Australian and global society. We pay respects to Elders past, present and emerging.</a:t>
            </a:r>
          </a:p>
        </p:txBody>
      </p:sp>
      <p:pic>
        <p:nvPicPr>
          <p:cNvPr id="4" name="Picture 3" descr="image.png"/>
          <p:cNvPicPr>
            <a:picLocks noChangeAspect="1"/>
          </p:cNvPicPr>
          <p:nvPr/>
        </p:nvPicPr>
        <p:blipFill>
          <a:blip r:embed="rId2"/>
          <a:stretch>
            <a:fillRect/>
          </a:stretch>
        </p:blipFill>
        <p:spPr>
          <a:xfrm>
            <a:off x="7315200" y="1828800"/>
            <a:ext cx="4114800" cy="2926080"/>
          </a:xfrm>
          <a:prstGeom prst="rect">
            <a:avLst/>
          </a:prstGeom>
        </p:spPr>
      </p:pic>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Acknowledgement of Country]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371600"/>
            <a:ext cx="2743200" cy="731520"/>
          </a:xfrm>
          <a:prstGeom prst="rect">
            <a:avLst/>
          </a:prstGeom>
          <a:noFill/>
        </p:spPr>
        <p:txBody>
          <a:bodyPr wrap="square">
            <a:spAutoFit/>
          </a:bodyPr>
          <a:lstStyle/>
          <a:p>
            <a:r>
              <a:rPr sz="4800" b="1">
                <a:solidFill>
                  <a:srgbClr val="5050A0"/>
                </a:solidFill>
                <a:latin typeface="Arial"/>
              </a:rPr>
              <a:t>01</a:t>
            </a:r>
          </a:p>
        </p:txBody>
      </p:sp>
      <p:sp>
        <p:nvSpPr>
          <p:cNvPr id="3" name="TextBox 2"/>
          <p:cNvSpPr txBox="1"/>
          <p:nvPr/>
        </p:nvSpPr>
        <p:spPr>
          <a:xfrm>
            <a:off x="731520" y="2560320"/>
            <a:ext cx="7315200" cy="914400"/>
          </a:xfrm>
          <a:prstGeom prst="rect">
            <a:avLst/>
          </a:prstGeom>
          <a:noFill/>
        </p:spPr>
        <p:txBody>
          <a:bodyPr wrap="square">
            <a:spAutoFit/>
          </a:bodyPr>
          <a:lstStyle/>
          <a:p>
            <a:r>
              <a:rPr sz="3200" b="1">
                <a:solidFill>
                  <a:srgbClr val="282828"/>
                </a:solidFill>
                <a:latin typeface="Arial"/>
              </a:rPr>
              <a:t>Strategic Foundations</a:t>
            </a:r>
          </a:p>
        </p:txBody>
      </p:sp>
      <p:sp>
        <p:nvSpPr>
          <p:cNvPr id="4" name="TextBox 3"/>
          <p:cNvSpPr txBox="1"/>
          <p:nvPr/>
        </p:nvSpPr>
        <p:spPr>
          <a:xfrm>
            <a:off x="731520" y="3840480"/>
            <a:ext cx="5486400" cy="914400"/>
          </a:xfrm>
          <a:prstGeom prst="rect">
            <a:avLst/>
          </a:prstGeom>
          <a:noFill/>
        </p:spPr>
        <p:txBody>
          <a:bodyPr wrap="square">
            <a:spAutoFit/>
          </a:bodyPr>
          <a:lstStyle/>
          <a:p>
            <a:r>
              <a:rPr sz="1400">
                <a:solidFill>
                  <a:srgbClr val="646464"/>
                </a:solidFill>
                <a:latin typeface="Arial"/>
              </a:rPr>
              <a:t>Understanding the core principles that drive effective strategic leadership in modern organisations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Section Divider]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Key Principles of Strategic Leadership</a:t>
            </a:r>
          </a:p>
        </p:txBody>
      </p:sp>
      <p:sp>
        <p:nvSpPr>
          <p:cNvPr id="3" name="TextBox 2"/>
          <p:cNvSpPr txBox="1"/>
          <p:nvPr/>
        </p:nvSpPr>
        <p:spPr>
          <a:xfrm>
            <a:off x="457200" y="1371600"/>
            <a:ext cx="10058400" cy="4572000"/>
          </a:xfrm>
          <a:prstGeom prst="rect">
            <a:avLst/>
          </a:prstGeom>
          <a:noFill/>
        </p:spPr>
        <p:txBody>
          <a:bodyPr wrap="square">
            <a:spAutoFit/>
          </a:bodyPr>
          <a:lstStyle/>
          <a:p>
            <a:r>
              <a:rPr sz="1600">
                <a:solidFill>
                  <a:srgbClr val="3C3C3C"/>
                </a:solidFill>
                <a:latin typeface="Arial"/>
              </a:rPr>
              <a:t>• Leaders must balance short-term operational demands with long-term strategic vision</a:t>
            </a:r>
            <a:br/>
            <a:r>
              <a:t>• Effective strategy requires alignment between organisational values, capabilities, and market opportunities</a:t>
            </a:r>
            <a:br/>
            <a:r>
              <a:t>• Innovation thrives in cultures that embrace calculated risk-taking and learning from failure</a:t>
            </a:r>
            <a:br/>
            <a:r>
              <a:t>• Stakeholder engagement is essential for building sustainable competitive advantage</a:t>
            </a:r>
            <a:br/>
            <a:r>
              <a:t>• Data-driven decision making enhances strategic clarity while reducing cognitive bias</a:t>
            </a:r>
            <a:br/>
            <a:r>
              <a:t>• Cross-functional collaboration breaks down silos and enables holistic strategy execution</a:t>
            </a:r>
          </a:p>
        </p:txBody>
      </p:sp>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Title and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Today's Agenda</a:t>
            </a:r>
          </a:p>
        </p:txBody>
      </p:sp>
      <p:graphicFrame>
        <p:nvGraphicFramePr>
          <p:cNvPr id="3" name="Table 2"/>
          <p:cNvGraphicFramePr>
            <a:graphicFrameLocks noGrp="1"/>
          </p:cNvGraphicFramePr>
          <p:nvPr/>
        </p:nvGraphicFramePr>
        <p:xfrm>
          <a:off x="457200" y="1371600"/>
          <a:ext cx="9144000" cy="3657600"/>
        </p:xfrm>
        <a:graphic>
          <a:graphicData uri="http://schemas.openxmlformats.org/drawingml/2006/table">
            <a:tbl>
              <a:tblPr firstRow="1" bandRow="1">
                <a:tableStyleId>{5C22544A-7EE6-4342-B048-85BDC9FD1C3A}</a:tableStyleId>
              </a:tblPr>
              <a:tblGrid>
                <a:gridCol w="4572000"/>
                <a:gridCol w="4572000"/>
              </a:tblGrid>
              <a:tr h="609600">
                <a:tc>
                  <a:txBody>
                    <a:bodyPr/>
                    <a:lstStyle/>
                    <a:p>
                      <a:r>
                        <a:t>Time</a:t>
                      </a:r>
                    </a:p>
                  </a:txBody>
                  <a:tcPr/>
                </a:tc>
                <a:tc>
                  <a:txBody>
                    <a:bodyPr/>
                    <a:lstStyle/>
                    <a:p>
                      <a:r>
                        <a:t>Session Description</a:t>
                      </a:r>
                    </a:p>
                  </a:txBody>
                  <a:tcPr/>
                </a:tc>
              </a:tr>
              <a:tr h="609600">
                <a:tc>
                  <a:txBody>
                    <a:bodyPr/>
                    <a:lstStyle/>
                    <a:p>
                      <a:r>
                        <a:t>9:00 - 9:30am</a:t>
                      </a:r>
                    </a:p>
                  </a:txBody>
                  <a:tcPr/>
                </a:tc>
                <a:tc>
                  <a:txBody>
                    <a:bodyPr/>
                    <a:lstStyle/>
                    <a:p>
                      <a:r>
                        <a:t>Welcome and Introductions</a:t>
                      </a:r>
                    </a:p>
                  </a:txBody>
                  <a:tcPr/>
                </a:tc>
              </a:tr>
              <a:tr h="609600">
                <a:tc>
                  <a:txBody>
                    <a:bodyPr/>
                    <a:lstStyle/>
                    <a:p>
                      <a:r>
                        <a:t>9:30 - 10:45am</a:t>
                      </a:r>
                    </a:p>
                  </a:txBody>
                  <a:tcPr/>
                </a:tc>
                <a:tc>
                  <a:txBody>
                    <a:bodyPr/>
                    <a:lstStyle/>
                    <a:p>
                      <a:r>
                        <a:t>Session 1</a:t>
                      </a:r>
                    </a:p>
                    <a:p>
                      <a:r>
                        <a:t>Strategic Foundations and Frameworks</a:t>
                      </a:r>
                    </a:p>
                  </a:txBody>
                  <a:tcPr/>
                </a:tc>
              </a:tr>
              <a:tr h="609600">
                <a:tc>
                  <a:txBody>
                    <a:bodyPr/>
                    <a:lstStyle/>
                    <a:p>
                      <a:r>
                        <a:t>10:45 - 11:00am</a:t>
                      </a:r>
                    </a:p>
                  </a:txBody>
                  <a:tcPr/>
                </a:tc>
                <a:tc>
                  <a:txBody>
                    <a:bodyPr/>
                    <a:lstStyle/>
                    <a:p>
                      <a:r>
                        <a:t>Morning Tea Break</a:t>
                      </a:r>
                    </a:p>
                  </a:txBody>
                  <a:tcPr/>
                </a:tc>
              </a:tr>
              <a:tr h="609600">
                <a:tc>
                  <a:txBody>
                    <a:bodyPr/>
                    <a:lstStyle/>
                    <a:p>
                      <a:r>
                        <a:t>11:00 - 12:30pm</a:t>
                      </a:r>
                    </a:p>
                  </a:txBody>
                  <a:tcPr/>
                </a:tc>
                <a:tc>
                  <a:txBody>
                    <a:bodyPr/>
                    <a:lstStyle/>
                    <a:p>
                      <a:r>
                        <a:t>Session 2</a:t>
                      </a:r>
                    </a:p>
                    <a:p>
                      <a:r>
                        <a:t>Diagnosing Strategic Challenges</a:t>
                      </a:r>
                    </a:p>
                  </a:txBody>
                  <a:tcPr/>
                </a:tc>
              </a:tr>
              <a:tr h="609600">
                <a:tc>
                  <a:txBody>
                    <a:bodyPr/>
                    <a:lstStyle/>
                    <a:p>
                      <a:r>
                        <a:t>12:30 - 1:15pm</a:t>
                      </a:r>
                    </a:p>
                  </a:txBody>
                  <a:tcPr/>
                </a:tc>
                <a:tc>
                  <a:txBody>
                    <a:bodyPr/>
                    <a:lstStyle/>
                    <a:p>
                      <a:r>
                        <a:t>Lunch</a:t>
                      </a:r>
                    </a:p>
                  </a:txBody>
                  <a:tcPr/>
                </a:tc>
              </a:tr>
            </a:tbl>
          </a:graphicData>
        </a:graphic>
      </p:graphicFrame>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Title and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The Customer Experience Landscape</a:t>
            </a:r>
          </a:p>
        </p:txBody>
      </p:sp>
      <p:sp>
        <p:nvSpPr>
          <p:cNvPr id="3" name="TextBox 2"/>
          <p:cNvSpPr txBox="1"/>
          <p:nvPr/>
        </p:nvSpPr>
        <p:spPr>
          <a:xfrm>
            <a:off x="457200" y="1371600"/>
            <a:ext cx="5486400" cy="4114800"/>
          </a:xfrm>
          <a:prstGeom prst="rect">
            <a:avLst/>
          </a:prstGeom>
          <a:noFill/>
        </p:spPr>
        <p:txBody>
          <a:bodyPr wrap="square">
            <a:spAutoFit/>
          </a:bodyPr>
          <a:lstStyle/>
          <a:p>
            <a:r>
              <a:rPr sz="1400">
                <a:solidFill>
                  <a:srgbClr val="3C3C3C"/>
                </a:solidFill>
                <a:latin typeface="Arial"/>
              </a:rPr>
              <a:t>Customer experience (CX) encompasses every interaction a customer has with your brand, from initial awareness through post-purchase support.</a:t>
            </a:r>
            <a:br/>
            <a:br/>
            <a:r>
              <a:t>Key touchpoints include:</a:t>
            </a:r>
            <a:br/>
            <a:r>
              <a:t>• Digital channels — website, app, social media</a:t>
            </a:r>
            <a:br/>
            <a:r>
              <a:t>• Human interactions — sales, support, account management</a:t>
            </a:r>
            <a:br/>
            <a:r>
              <a:t>• Physical experiences — retail, events, packaging</a:t>
            </a:r>
            <a:br/>
            <a:br/>
            <a:r>
              <a:t>Organisations that excel at CX outperform their peers by 80% in revenue growth.</a:t>
            </a:r>
          </a:p>
        </p:txBody>
      </p:sp>
      <p:pic>
        <p:nvPicPr>
          <p:cNvPr id="4" name="Picture 3" descr="image.png"/>
          <p:cNvPicPr>
            <a:picLocks noChangeAspect="1"/>
          </p:cNvPicPr>
          <p:nvPr/>
        </p:nvPicPr>
        <p:blipFill>
          <a:blip r:embed="rId2"/>
          <a:stretch>
            <a:fillRect/>
          </a:stretch>
        </p:blipFill>
        <p:spPr>
          <a:xfrm>
            <a:off x="6400800" y="1371600"/>
            <a:ext cx="5029200" cy="3474720"/>
          </a:xfrm>
          <a:prstGeom prst="rect">
            <a:avLst/>
          </a:prstGeom>
        </p:spPr>
      </p:pic>
      <p:sp>
        <p:nvSpPr>
          <p:cNvPr id="5" name="TextBox 4"/>
          <p:cNvSpPr txBox="1"/>
          <p:nvPr/>
        </p:nvSpPr>
        <p:spPr>
          <a:xfrm>
            <a:off x="6400800" y="5029200"/>
            <a:ext cx="5029200" cy="274320"/>
          </a:xfrm>
          <a:prstGeom prst="rect">
            <a:avLst/>
          </a:prstGeom>
          <a:noFill/>
        </p:spPr>
        <p:txBody>
          <a:bodyPr wrap="square">
            <a:spAutoFit/>
          </a:bodyPr>
          <a:lstStyle/>
          <a:p>
            <a:r>
              <a:rPr sz="900">
                <a:solidFill>
                  <a:srgbClr val="969696"/>
                </a:solidFill>
                <a:latin typeface="Arial"/>
              </a:rPr>
              <a:t>Source: AdobeStock 305585768</a:t>
            </a:r>
          </a:p>
        </p:txBody>
      </p:sp>
      <p:sp>
        <p:nvSpPr>
          <p:cNvPr id="6" name="TextBox 5"/>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Text with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Design Thinking in Practice</a:t>
            </a:r>
          </a:p>
        </p:txBody>
      </p:sp>
      <p:pic>
        <p:nvPicPr>
          <p:cNvPr id="3" name="Picture 2" descr="image.png"/>
          <p:cNvPicPr>
            <a:picLocks noChangeAspect="1"/>
          </p:cNvPicPr>
          <p:nvPr/>
        </p:nvPicPr>
        <p:blipFill>
          <a:blip r:embed="rId2"/>
          <a:stretch>
            <a:fillRect/>
          </a:stretch>
        </p:blipFill>
        <p:spPr>
          <a:xfrm>
            <a:off x="457200" y="1371600"/>
            <a:ext cx="5029200" cy="3474720"/>
          </a:xfrm>
          <a:prstGeom prst="rect">
            <a:avLst/>
          </a:prstGeom>
        </p:spPr>
      </p:pic>
      <p:sp>
        <p:nvSpPr>
          <p:cNvPr id="4" name="TextBox 3"/>
          <p:cNvSpPr txBox="1"/>
          <p:nvPr/>
        </p:nvSpPr>
        <p:spPr>
          <a:xfrm>
            <a:off x="5943600" y="1371600"/>
            <a:ext cx="5486400" cy="4114800"/>
          </a:xfrm>
          <a:prstGeom prst="rect">
            <a:avLst/>
          </a:prstGeom>
          <a:noFill/>
        </p:spPr>
        <p:txBody>
          <a:bodyPr wrap="square">
            <a:spAutoFit/>
          </a:bodyPr>
          <a:lstStyle/>
          <a:p>
            <a:r>
              <a:rPr sz="1400">
                <a:solidFill>
                  <a:srgbClr val="3C3C3C"/>
                </a:solidFill>
                <a:latin typeface="Arial"/>
              </a:rPr>
              <a:t>Design thinking is a human-centred approach to innovation that draws from the designer's toolkit to integrate the needs of people, the possibilities of technology, and the requirements for business success.</a:t>
            </a:r>
            <a:br/>
            <a:br/>
            <a:r>
              <a:t>The five phases:</a:t>
            </a:r>
            <a:br/>
            <a:r>
              <a:t>1. Empathise — understand user needs</a:t>
            </a:r>
            <a:br/>
            <a:r>
              <a:t>2. Define — frame the problem</a:t>
            </a:r>
            <a:br/>
            <a:r>
              <a:t>3. Ideate — generate creative solutions</a:t>
            </a:r>
            <a:br/>
            <a:r>
              <a:t>4. Prototype — build to learn</a:t>
            </a:r>
            <a:br/>
            <a:r>
              <a:t>5. Test — validate with users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Text with Image Alt]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Traditional vs. Agile Strategy</a:t>
            </a:r>
          </a:p>
        </p:txBody>
      </p:sp>
      <p:sp>
        <p:nvSpPr>
          <p:cNvPr id="3" name="TextBox 2"/>
          <p:cNvSpPr txBox="1"/>
          <p:nvPr/>
        </p:nvSpPr>
        <p:spPr>
          <a:xfrm>
            <a:off x="457200" y="1371600"/>
            <a:ext cx="5029200" cy="4572000"/>
          </a:xfrm>
          <a:prstGeom prst="rect">
            <a:avLst/>
          </a:prstGeom>
          <a:noFill/>
        </p:spPr>
        <p:txBody>
          <a:bodyPr wrap="square">
            <a:spAutoFit/>
          </a:bodyPr>
          <a:lstStyle/>
          <a:p>
            <a:r>
              <a:rPr sz="1400">
                <a:solidFill>
                  <a:srgbClr val="3C3C3C"/>
                </a:solidFill>
                <a:latin typeface="Arial"/>
              </a:rPr>
              <a:t>Traditional Strategic Planning</a:t>
            </a:r>
            <a:br/>
            <a:br/>
            <a:r>
              <a:t>• Comprehensive 3-5 year plans</a:t>
            </a:r>
            <a:br/>
            <a:r>
              <a:t>• Annual review cycles</a:t>
            </a:r>
            <a:br/>
            <a:r>
              <a:t>• Top-down cascading objectives</a:t>
            </a:r>
            <a:br/>
            <a:r>
              <a:t>• Detailed financial forecasting</a:t>
            </a:r>
            <a:br/>
            <a:r>
              <a:t>• Risk mitigation focus</a:t>
            </a:r>
            <a:br/>
            <a:r>
              <a:t>• Sequential execution phases</a:t>
            </a:r>
          </a:p>
        </p:txBody>
      </p:sp>
      <p:sp>
        <p:nvSpPr>
          <p:cNvPr id="4" name="TextBox 3"/>
          <p:cNvSpPr txBox="1"/>
          <p:nvPr/>
        </p:nvSpPr>
        <p:spPr>
          <a:xfrm>
            <a:off x="6217920" y="1371600"/>
            <a:ext cx="5029200" cy="4572000"/>
          </a:xfrm>
          <a:prstGeom prst="rect">
            <a:avLst/>
          </a:prstGeom>
          <a:noFill/>
        </p:spPr>
        <p:txBody>
          <a:bodyPr wrap="square">
            <a:spAutoFit/>
          </a:bodyPr>
          <a:lstStyle/>
          <a:p>
            <a:r>
              <a:rPr sz="1400">
                <a:solidFill>
                  <a:srgbClr val="3C3C3C"/>
                </a:solidFill>
                <a:latin typeface="Arial"/>
              </a:rPr>
              <a:t>Agile Strategic Approach</a:t>
            </a:r>
            <a:br/>
            <a:br/>
            <a:r>
              <a:t>• 90-day strategic sprints</a:t>
            </a:r>
            <a:br/>
            <a:r>
              <a:t>• Continuous review and adaptation</a:t>
            </a:r>
            <a:br/>
            <a:r>
              <a:t>• Cross-functional OKR alignment</a:t>
            </a:r>
            <a:br/>
            <a:r>
              <a:t>• Scenario-based planning</a:t>
            </a:r>
            <a:br/>
            <a:r>
              <a:t>• Opportunity-seeking mindset</a:t>
            </a:r>
            <a:br/>
            <a:r>
              <a:t>• Iterative experimentation</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Two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Our Three Strategic Pillars</a:t>
            </a:r>
          </a:p>
        </p:txBody>
      </p:sp>
      <p:sp>
        <p:nvSpPr>
          <p:cNvPr id="3" name="TextBox 2"/>
          <p:cNvSpPr txBox="1"/>
          <p:nvPr/>
        </p:nvSpPr>
        <p:spPr>
          <a:xfrm>
            <a:off x="457200" y="1371600"/>
            <a:ext cx="3474720" cy="548640"/>
          </a:xfrm>
          <a:prstGeom prst="rect">
            <a:avLst/>
          </a:prstGeom>
          <a:noFill/>
        </p:spPr>
        <p:txBody>
          <a:bodyPr wrap="square">
            <a:spAutoFit/>
          </a:bodyPr>
          <a:lstStyle/>
          <a:p>
            <a:r>
              <a:rPr sz="2000" b="1">
                <a:solidFill>
                  <a:srgbClr val="285078"/>
                </a:solidFill>
                <a:latin typeface="Arial"/>
              </a:rPr>
              <a:t>Innovation</a:t>
            </a:r>
          </a:p>
        </p:txBody>
      </p:sp>
      <p:sp>
        <p:nvSpPr>
          <p:cNvPr id="4" name="TextBox 3"/>
          <p:cNvSpPr txBox="1"/>
          <p:nvPr/>
        </p:nvSpPr>
        <p:spPr>
          <a:xfrm>
            <a:off x="457200" y="2103120"/>
            <a:ext cx="3474720" cy="3200400"/>
          </a:xfrm>
          <a:prstGeom prst="rect">
            <a:avLst/>
          </a:prstGeom>
          <a:noFill/>
        </p:spPr>
        <p:txBody>
          <a:bodyPr wrap="square">
            <a:spAutoFit/>
          </a:bodyPr>
          <a:lstStyle/>
          <a:p>
            <a:r>
              <a:rPr sz="1300">
                <a:solidFill>
                  <a:srgbClr val="464646"/>
                </a:solidFill>
                <a:latin typeface="Arial"/>
              </a:rPr>
              <a:t>Invest in R&amp;D and emerging technologies to maintain competitive edge. Foster intrapreneurship and creative problem-solving across all levels of the organisation.</a:t>
            </a:r>
          </a:p>
        </p:txBody>
      </p:sp>
      <p:sp>
        <p:nvSpPr>
          <p:cNvPr id="5" name="TextBox 4"/>
          <p:cNvSpPr txBox="1"/>
          <p:nvPr/>
        </p:nvSpPr>
        <p:spPr>
          <a:xfrm>
            <a:off x="4389120" y="1371600"/>
            <a:ext cx="3474720" cy="548640"/>
          </a:xfrm>
          <a:prstGeom prst="rect">
            <a:avLst/>
          </a:prstGeom>
          <a:noFill/>
        </p:spPr>
        <p:txBody>
          <a:bodyPr wrap="square">
            <a:spAutoFit/>
          </a:bodyPr>
          <a:lstStyle/>
          <a:p>
            <a:r>
              <a:rPr sz="2000" b="1">
                <a:solidFill>
                  <a:srgbClr val="285078"/>
                </a:solidFill>
                <a:latin typeface="Arial"/>
              </a:rPr>
              <a:t>Sustainability</a:t>
            </a:r>
          </a:p>
        </p:txBody>
      </p:sp>
      <p:sp>
        <p:nvSpPr>
          <p:cNvPr id="6" name="TextBox 5"/>
          <p:cNvSpPr txBox="1"/>
          <p:nvPr/>
        </p:nvSpPr>
        <p:spPr>
          <a:xfrm>
            <a:off x="4389120" y="2103120"/>
            <a:ext cx="3474720" cy="3200400"/>
          </a:xfrm>
          <a:prstGeom prst="rect">
            <a:avLst/>
          </a:prstGeom>
          <a:noFill/>
        </p:spPr>
        <p:txBody>
          <a:bodyPr wrap="square">
            <a:spAutoFit/>
          </a:bodyPr>
          <a:lstStyle/>
          <a:p>
            <a:r>
              <a:rPr sz="1300">
                <a:solidFill>
                  <a:srgbClr val="464646"/>
                </a:solidFill>
                <a:latin typeface="Arial"/>
              </a:rPr>
              <a:t>Integrate ESG principles into core business strategy. Achieve net-zero by 2030 through operational efficiency and renewable energy adoption.</a:t>
            </a:r>
          </a:p>
        </p:txBody>
      </p:sp>
      <p:sp>
        <p:nvSpPr>
          <p:cNvPr id="7" name="TextBox 6"/>
          <p:cNvSpPr txBox="1"/>
          <p:nvPr/>
        </p:nvSpPr>
        <p:spPr>
          <a:xfrm>
            <a:off x="8321040" y="1371600"/>
            <a:ext cx="3474720" cy="548640"/>
          </a:xfrm>
          <a:prstGeom prst="rect">
            <a:avLst/>
          </a:prstGeom>
          <a:noFill/>
        </p:spPr>
        <p:txBody>
          <a:bodyPr wrap="square">
            <a:spAutoFit/>
          </a:bodyPr>
          <a:lstStyle/>
          <a:p>
            <a:r>
              <a:rPr sz="2000" b="1">
                <a:solidFill>
                  <a:srgbClr val="285078"/>
                </a:solidFill>
                <a:latin typeface="Arial"/>
              </a:rPr>
              <a:t>People</a:t>
            </a:r>
          </a:p>
        </p:txBody>
      </p:sp>
      <p:sp>
        <p:nvSpPr>
          <p:cNvPr id="8" name="TextBox 7"/>
          <p:cNvSpPr txBox="1"/>
          <p:nvPr/>
        </p:nvSpPr>
        <p:spPr>
          <a:xfrm>
            <a:off x="8321040" y="2103120"/>
            <a:ext cx="3474720" cy="3200400"/>
          </a:xfrm>
          <a:prstGeom prst="rect">
            <a:avLst/>
          </a:prstGeom>
          <a:noFill/>
        </p:spPr>
        <p:txBody>
          <a:bodyPr wrap="square">
            <a:spAutoFit/>
          </a:bodyPr>
          <a:lstStyle/>
          <a:p>
            <a:r>
              <a:rPr sz="1300">
                <a:solidFill>
                  <a:srgbClr val="464646"/>
                </a:solidFill>
                <a:latin typeface="Arial"/>
              </a:rPr>
              <a:t>Attract, develop and retain top talent through compelling employee value proposition. Build diverse, high-performing teams that drive strategic execution.</a:t>
            </a:r>
          </a:p>
        </p:txBody>
      </p:sp>
      <p:sp>
        <p:nvSpPr>
          <p:cNvPr id="9" name="TextBox 8"/>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Three Content]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Market Analysis: Before and After Intervention</a:t>
            </a:r>
          </a:p>
        </p:txBody>
      </p:sp>
      <p:sp>
        <p:nvSpPr>
          <p:cNvPr id="3" name="TextBox 2"/>
          <p:cNvSpPr txBox="1"/>
          <p:nvPr/>
        </p:nvSpPr>
        <p:spPr>
          <a:xfrm>
            <a:off x="457200" y="1371600"/>
            <a:ext cx="10058400" cy="2286000"/>
          </a:xfrm>
          <a:prstGeom prst="rect">
            <a:avLst/>
          </a:prstGeom>
          <a:noFill/>
        </p:spPr>
        <p:txBody>
          <a:bodyPr wrap="square">
            <a:spAutoFit/>
          </a:bodyPr>
          <a:lstStyle/>
          <a:p>
            <a:r>
              <a:rPr sz="1400">
                <a:solidFill>
                  <a:srgbClr val="3C3C3C"/>
                </a:solidFill>
                <a:latin typeface="Arial"/>
              </a:rPr>
              <a:t>Pre-Intervention Landscape (Q1 2024)</a:t>
            </a:r>
            <a:br/>
            <a:br/>
            <a:r>
              <a:t>Market share stood at 12.3% with declining customer satisfaction scores (NPS: 32). Primary challenges included fragmented digital channels, inconsistent brand messaging, and high customer churn in the 18-35 demographic. Competitor analysis revealed three new entrants with superior digital offerings.</a:t>
            </a:r>
          </a:p>
        </p:txBody>
      </p:sp>
      <p:sp>
        <p:nvSpPr>
          <p:cNvPr id="4" name="TextBox 3"/>
          <p:cNvSpPr txBox="1"/>
          <p:nvPr/>
        </p:nvSpPr>
        <p:spPr>
          <a:xfrm>
            <a:off x="457200" y="3931920"/>
            <a:ext cx="10058400" cy="2286000"/>
          </a:xfrm>
          <a:prstGeom prst="rect">
            <a:avLst/>
          </a:prstGeom>
          <a:noFill/>
        </p:spPr>
        <p:txBody>
          <a:bodyPr wrap="square">
            <a:spAutoFit/>
          </a:bodyPr>
          <a:lstStyle/>
          <a:p>
            <a:r>
              <a:rPr sz="1400">
                <a:solidFill>
                  <a:srgbClr val="3C3C3C"/>
                </a:solidFill>
                <a:latin typeface="Arial"/>
              </a:rPr>
              <a:t>Post-Intervention Results (Q4 2024)</a:t>
            </a:r>
            <a:br/>
            <a:br/>
            <a:r>
              <a:t>Market share increased to 18.7% following the integrated CX transformation. Customer satisfaction scores improved dramatically (NPS: 67). Digital channel consolidation reduced friction by 43% while personalised engagement drove a 28% increase in customer lifetime value across all segments.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Two Content Horizontal]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Change Management Framework</a:t>
            </a:r>
          </a:p>
        </p:txBody>
      </p:sp>
      <p:sp>
        <p:nvSpPr>
          <p:cNvPr id="3" name="TextBox 2"/>
          <p:cNvSpPr txBox="1"/>
          <p:nvPr/>
        </p:nvSpPr>
        <p:spPr>
          <a:xfrm>
            <a:off x="457200" y="1371600"/>
            <a:ext cx="7315200" cy="4572000"/>
          </a:xfrm>
          <a:prstGeom prst="rect">
            <a:avLst/>
          </a:prstGeom>
          <a:noFill/>
        </p:spPr>
        <p:txBody>
          <a:bodyPr wrap="square">
            <a:spAutoFit/>
          </a:bodyPr>
          <a:lstStyle/>
          <a:p>
            <a:r>
              <a:rPr sz="1400">
                <a:solidFill>
                  <a:srgbClr val="3C3C3C"/>
                </a:solidFill>
                <a:latin typeface="Arial"/>
              </a:rPr>
              <a:t>The ADKAR model provides a structured approach to managing organisational change:</a:t>
            </a:r>
            <a:br/>
            <a:br/>
            <a:r>
              <a:t>Awareness — Create understanding of why change is needed</a:t>
            </a:r>
            <a:br/>
            <a:r>
              <a:t>Desire — Build motivation and willingness to participate</a:t>
            </a:r>
            <a:br/>
            <a:r>
              <a:t>Knowledge — Equip people with the skills and information required</a:t>
            </a:r>
            <a:br/>
            <a:r>
              <a:t>Ability — Enable practical application in daily work</a:t>
            </a:r>
            <a:br/>
            <a:r>
              <a:t>Reinforcement — Sustain change through recognition and accountability</a:t>
            </a:r>
            <a:br/>
            <a:br/>
            <a:r>
              <a:t>Research shows that projects with excellent change management are 6x more likely to meet objectives than those with poor change management (Prosci, 2023).</a:t>
            </a:r>
          </a:p>
        </p:txBody>
      </p:sp>
      <p:sp>
        <p:nvSpPr>
          <p:cNvPr id="4" name="TextBox 3"/>
          <p:cNvSpPr txBox="1"/>
          <p:nvPr/>
        </p:nvSpPr>
        <p:spPr>
          <a:xfrm>
            <a:off x="8229600" y="1371600"/>
            <a:ext cx="3474720" cy="3657600"/>
          </a:xfrm>
          <a:prstGeom prst="rect">
            <a:avLst/>
          </a:prstGeom>
          <a:noFill/>
        </p:spPr>
        <p:txBody>
          <a:bodyPr wrap="square">
            <a:spAutoFit/>
          </a:bodyPr>
          <a:lstStyle/>
          <a:p>
            <a:r>
              <a:rPr sz="1400" b="1">
                <a:solidFill>
                  <a:srgbClr val="782828"/>
                </a:solidFill>
                <a:latin typeface="Arial"/>
              </a:rPr>
              <a:t>Key Stat</a:t>
            </a:r>
            <a:br/>
            <a:br/>
            <a:r>
              <a:t>70%</a:t>
            </a:r>
            <a:br/>
            <a:r>
              <a:t>of change initiatives fail to achieve their goals</a:t>
            </a:r>
            <a:br/>
            <a:br/>
            <a:r>
              <a:t>The primary reason? Insufficient attention to the human side of change.</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Split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828800"/>
            <a:ext cx="9144000" cy="2286000"/>
          </a:xfrm>
          <a:prstGeom prst="rect">
            <a:avLst/>
          </a:prstGeom>
          <a:noFill/>
        </p:spPr>
        <p:txBody>
          <a:bodyPr wrap="square">
            <a:spAutoFit/>
          </a:bodyPr>
          <a:lstStyle/>
          <a:p>
            <a:pPr algn="ctr"/>
            <a:r>
              <a:rPr sz="2800">
                <a:solidFill>
                  <a:srgbClr val="323264"/>
                </a:solidFill>
                <a:latin typeface="Arial"/>
              </a:rPr>
              <a:t>"The greatest danger in times of turbulence is not the turbulence; it is to act with yesterday's logic."</a:t>
            </a:r>
          </a:p>
        </p:txBody>
      </p:sp>
      <p:sp>
        <p:nvSpPr>
          <p:cNvPr id="3" name="TextBox 2"/>
          <p:cNvSpPr txBox="1"/>
          <p:nvPr/>
        </p:nvSpPr>
        <p:spPr>
          <a:xfrm>
            <a:off x="1371600" y="4389120"/>
            <a:ext cx="9144000" cy="548640"/>
          </a:xfrm>
          <a:prstGeom prst="rect">
            <a:avLst/>
          </a:prstGeom>
          <a:noFill/>
        </p:spPr>
        <p:txBody>
          <a:bodyPr wrap="square">
            <a:spAutoFit/>
          </a:bodyPr>
          <a:lstStyle/>
          <a:p>
            <a:pPr algn="ctr"/>
            <a:r>
              <a:rPr sz="1600">
                <a:solidFill>
                  <a:srgbClr val="646464"/>
                </a:solidFill>
                <a:latin typeface="Arial"/>
              </a:rPr>
              <a:t>— Peter Drucker, Management Consultant and Author</a:t>
            </a:r>
          </a:p>
        </p:txBody>
      </p:sp>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Quote]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371600"/>
            <a:ext cx="5486400" cy="2743200"/>
          </a:xfrm>
          <a:prstGeom prst="rect">
            <a:avLst/>
          </a:prstGeom>
          <a:noFill/>
        </p:spPr>
        <p:txBody>
          <a:bodyPr wrap="square">
            <a:spAutoFit/>
          </a:bodyPr>
          <a:lstStyle/>
          <a:p>
            <a:r>
              <a:rPr sz="3000">
                <a:solidFill>
                  <a:srgbClr val="FFFFFF"/>
                </a:solidFill>
                <a:latin typeface="Arial"/>
              </a:rPr>
              <a:t>"Innovation distinguishes between a leader and a follower."</a:t>
            </a:r>
          </a:p>
        </p:txBody>
      </p:sp>
      <p:sp>
        <p:nvSpPr>
          <p:cNvPr id="4" name="TextBox 3"/>
          <p:cNvSpPr txBox="1"/>
          <p:nvPr/>
        </p:nvSpPr>
        <p:spPr>
          <a:xfrm>
            <a:off x="914400" y="4389120"/>
            <a:ext cx="5486400" cy="548640"/>
          </a:xfrm>
          <a:prstGeom prst="rect">
            <a:avLst/>
          </a:prstGeom>
          <a:noFill/>
        </p:spPr>
        <p:txBody>
          <a:bodyPr wrap="square">
            <a:spAutoFit/>
          </a:bodyPr>
          <a:lstStyle/>
          <a:p>
            <a:r>
              <a:rPr sz="1600">
                <a:solidFill>
                  <a:srgbClr val="C8C8C8"/>
                </a:solidFill>
                <a:latin typeface="Arial"/>
              </a:rPr>
              <a:t>— Steve Jobs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Quote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References</a:t>
            </a:r>
          </a:p>
        </p:txBody>
      </p:sp>
      <p:sp>
        <p:nvSpPr>
          <p:cNvPr id="3" name="TextBox 2"/>
          <p:cNvSpPr txBox="1"/>
          <p:nvPr/>
        </p:nvSpPr>
        <p:spPr>
          <a:xfrm>
            <a:off x="457200" y="1371600"/>
            <a:ext cx="10058400" cy="4572000"/>
          </a:xfrm>
          <a:prstGeom prst="rect">
            <a:avLst/>
          </a:prstGeom>
          <a:noFill/>
        </p:spPr>
        <p:txBody>
          <a:bodyPr wrap="square">
            <a:spAutoFit/>
          </a:bodyPr>
          <a:lstStyle/>
          <a:p>
            <a:r>
              <a:rPr sz="1200">
                <a:solidFill>
                  <a:srgbClr val="3C3C3C"/>
                </a:solidFill>
                <a:latin typeface="Arial"/>
              </a:rPr>
              <a:t>Kaplan, R. S., &amp; Norton, D. P. (1996). The balanced scorecard: translating strategy into action. Harvard Business Press.</a:t>
            </a:r>
            <a:br/>
            <a:br/>
            <a:r>
              <a:t>Mintzberg, H. (2007). Tracking strategies: Toward a general theory of strategy formation. Oxford University Press.</a:t>
            </a:r>
            <a:br/>
            <a:br/>
            <a:r>
              <a:t>Porter, M. E. (1985). Competitive advantage: Creating and sustaining superior performance. The Free Press.</a:t>
            </a:r>
            <a:br/>
            <a:br/>
            <a:r>
              <a:t>Teece, D. J. (2018). Dynamic capabilities as (workable) management systems theory. Journal of Management &amp; Organization, 24(3), 359-368. DOI: 10.1017/jmo.2017.75</a:t>
            </a:r>
            <a:br/>
            <a:br/>
            <a:r>
              <a:t>Adapted from Rumelt, R. (2011). Good strategy bad strategy: The difference and why it matters. Crown Business.</a:t>
            </a:r>
          </a:p>
        </p:txBody>
      </p:sp>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914400"/>
          </a:xfrm>
          <a:prstGeom prst="rect">
            <a:avLst/>
          </a:prstGeom>
          <a:noFill/>
        </p:spPr>
        <p:txBody>
          <a:bodyPr wrap="square">
            <a:spAutoFit/>
          </a:bodyPr>
          <a:lstStyle/>
          <a:p>
            <a:r>
              <a:rPr sz="3600" b="1">
                <a:solidFill>
                  <a:srgbClr val="282850"/>
                </a:solidFill>
                <a:latin typeface="Arial"/>
              </a:rPr>
              <a:t>Group Activity: Strategic SWOT Analysis</a:t>
            </a:r>
          </a:p>
        </p:txBody>
      </p:sp>
      <p:pic>
        <p:nvPicPr>
          <p:cNvPr id="3" name="Picture 2" descr="image.png"/>
          <p:cNvPicPr>
            <a:picLocks noChangeAspect="1"/>
          </p:cNvPicPr>
          <p:nvPr/>
        </p:nvPicPr>
        <p:blipFill>
          <a:blip r:embed="rId2"/>
          <a:stretch>
            <a:fillRect/>
          </a:stretch>
        </p:blipFill>
        <p:spPr>
          <a:xfrm>
            <a:off x="1828800" y="1645920"/>
            <a:ext cx="7315200" cy="4114800"/>
          </a:xfrm>
          <a:prstGeom prst="rect">
            <a:avLst/>
          </a:prstGeom>
        </p:spPr>
      </p:pic>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Title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Brisbane CBD from Kangaroo Point</a:t>
            </a:r>
          </a:p>
        </p:txBody>
      </p:sp>
      <p:pic>
        <p:nvPicPr>
          <p:cNvPr id="3" name="Picture 2" descr="image.png"/>
          <p:cNvPicPr>
            <a:picLocks noChangeAspect="1"/>
          </p:cNvPicPr>
          <p:nvPr/>
        </p:nvPicPr>
        <p:blipFill>
          <a:blip r:embed="rId2"/>
          <a:stretch>
            <a:fillRect/>
          </a:stretch>
        </p:blipFill>
        <p:spPr>
          <a:xfrm>
            <a:off x="914400" y="1371600"/>
            <a:ext cx="9144000" cy="4114800"/>
          </a:xfrm>
          <a:prstGeom prst="rect">
            <a:avLst/>
          </a:prstGeom>
        </p:spPr>
      </p:pic>
      <p:sp>
        <p:nvSpPr>
          <p:cNvPr id="4" name="TextBox 3"/>
          <p:cNvSpPr txBox="1"/>
          <p:nvPr/>
        </p:nvSpPr>
        <p:spPr>
          <a:xfrm>
            <a:off x="914400" y="5669280"/>
            <a:ext cx="9144000" cy="457200"/>
          </a:xfrm>
          <a:prstGeom prst="rect">
            <a:avLst/>
          </a:prstGeom>
          <a:noFill/>
        </p:spPr>
        <p:txBody>
          <a:bodyPr wrap="square">
            <a:spAutoFit/>
          </a:bodyPr>
          <a:lstStyle/>
          <a:p>
            <a:r>
              <a:rPr sz="1200">
                <a:solidFill>
                  <a:srgbClr val="787878"/>
                </a:solidFill>
                <a:latin typeface="Arial"/>
              </a:rPr>
              <a:t>The Brisbane central business district, home to UQ Business School's city campus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Picture with Caption]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Industry Trends — Technology Sector</a:t>
            </a:r>
          </a:p>
        </p:txBody>
      </p:sp>
      <p:sp>
        <p:nvSpPr>
          <p:cNvPr id="3" name="TextBox 2"/>
          <p:cNvSpPr txBox="1"/>
          <p:nvPr/>
        </p:nvSpPr>
        <p:spPr>
          <a:xfrm>
            <a:off x="457200" y="1188720"/>
            <a:ext cx="5486400" cy="1645920"/>
          </a:xfrm>
          <a:prstGeom prst="rect">
            <a:avLst/>
          </a:prstGeom>
          <a:noFill/>
        </p:spPr>
        <p:txBody>
          <a:bodyPr wrap="square">
            <a:spAutoFit/>
          </a:bodyPr>
          <a:lstStyle/>
          <a:p>
            <a:r>
              <a:rPr sz="1400">
                <a:solidFill>
                  <a:srgbClr val="3C3C3C"/>
                </a:solidFill>
                <a:latin typeface="Arial"/>
              </a:rPr>
              <a:t>The technology sector continues to evolve rapidly. Key trends for 2025 include generative AI adoption, edge computing, and quantum readiness. Market cap growth has outpaced all other sectors by 3:1 over the past decade.</a:t>
            </a:r>
          </a:p>
        </p:txBody>
      </p:sp>
      <p:pic>
        <p:nvPicPr>
          <p:cNvPr id="4" name="Picture 3" descr="image.png"/>
          <p:cNvPicPr>
            <a:picLocks noChangeAspect="1"/>
          </p:cNvPicPr>
          <p:nvPr/>
        </p:nvPicPr>
        <p:blipFill>
          <a:blip r:embed="rId2"/>
          <a:stretch>
            <a:fillRect/>
          </a:stretch>
        </p:blipFill>
        <p:spPr>
          <a:xfrm>
            <a:off x="457200" y="3200400"/>
            <a:ext cx="10058400" cy="3200400"/>
          </a:xfrm>
          <a:prstGeom prst="rect">
            <a:avLst/>
          </a:prstGeom>
        </p:spPr>
      </p:pic>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Top Image + Content]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Stakeholder Engagement Strategy</a:t>
            </a:r>
          </a:p>
        </p:txBody>
      </p:sp>
      <p:sp>
        <p:nvSpPr>
          <p:cNvPr id="3" name="TextBox 2"/>
          <p:cNvSpPr txBox="1"/>
          <p:nvPr/>
        </p:nvSpPr>
        <p:spPr>
          <a:xfrm>
            <a:off x="457200" y="1371600"/>
            <a:ext cx="3200400" cy="3657600"/>
          </a:xfrm>
          <a:prstGeom prst="rect">
            <a:avLst/>
          </a:prstGeom>
          <a:noFill/>
        </p:spPr>
        <p:txBody>
          <a:bodyPr wrap="square">
            <a:spAutoFit/>
          </a:bodyPr>
          <a:lstStyle/>
          <a:p>
            <a:r>
              <a:rPr sz="1400">
                <a:solidFill>
                  <a:srgbClr val="3C3C3C"/>
                </a:solidFill>
                <a:latin typeface="Arial"/>
              </a:rPr>
              <a:t>Effective stakeholder engagement requires a systematic approach that identifies, analyses, and addresses the interests and influence of all relevant parties. The two key frameworks are shown here.</a:t>
            </a:r>
          </a:p>
        </p:txBody>
      </p:sp>
      <p:sp>
        <p:nvSpPr>
          <p:cNvPr id="4" name="TextBox 3"/>
          <p:cNvSpPr txBox="1"/>
          <p:nvPr/>
        </p:nvSpPr>
        <p:spPr>
          <a:xfrm>
            <a:off x="4114800" y="1371600"/>
            <a:ext cx="3657600" cy="3657600"/>
          </a:xfrm>
          <a:prstGeom prst="rect">
            <a:avLst/>
          </a:prstGeom>
          <a:noFill/>
        </p:spPr>
        <p:txBody>
          <a:bodyPr wrap="square">
            <a:spAutoFit/>
          </a:bodyPr>
          <a:lstStyle/>
          <a:p>
            <a:r>
              <a:rPr sz="1300">
                <a:solidFill>
                  <a:srgbClr val="3C3C3C"/>
                </a:solidFill>
                <a:latin typeface="Arial"/>
              </a:rPr>
              <a:t>Power-Interest Grid</a:t>
            </a:r>
            <a:br/>
            <a:br/>
            <a:r>
              <a:t>• High power, high interest: Manage closely</a:t>
            </a:r>
            <a:br/>
            <a:r>
              <a:t>• High power, low interest: Keep satisfied</a:t>
            </a:r>
            <a:br/>
            <a:r>
              <a:t>• Low power, high interest: Keep informed</a:t>
            </a:r>
            <a:br/>
            <a:r>
              <a:t>• Low power, low interest: Monitor</a:t>
            </a:r>
          </a:p>
        </p:txBody>
      </p:sp>
      <p:sp>
        <p:nvSpPr>
          <p:cNvPr id="5" name="TextBox 4"/>
          <p:cNvSpPr txBox="1"/>
          <p:nvPr/>
        </p:nvSpPr>
        <p:spPr>
          <a:xfrm>
            <a:off x="8229600" y="1371600"/>
            <a:ext cx="3657600" cy="3657600"/>
          </a:xfrm>
          <a:prstGeom prst="rect">
            <a:avLst/>
          </a:prstGeom>
          <a:noFill/>
        </p:spPr>
        <p:txBody>
          <a:bodyPr wrap="square">
            <a:spAutoFit/>
          </a:bodyPr>
          <a:lstStyle/>
          <a:p>
            <a:r>
              <a:rPr sz="1300">
                <a:solidFill>
                  <a:srgbClr val="3C3C3C"/>
                </a:solidFill>
                <a:latin typeface="Arial"/>
              </a:rPr>
              <a:t>Salience Model</a:t>
            </a:r>
            <a:br/>
            <a:br/>
            <a:r>
              <a:t>• Legitimacy of relationship</a:t>
            </a:r>
            <a:br/>
            <a:r>
              <a:t>• Power to influence</a:t>
            </a:r>
            <a:br/>
            <a:r>
              <a:t>• Urgency of claim</a:t>
            </a:r>
            <a:br/>
            <a:r>
              <a:t>• Combination determines priority</a:t>
            </a:r>
          </a:p>
        </p:txBody>
      </p:sp>
      <p:sp>
        <p:nvSpPr>
          <p:cNvPr id="6" name="TextBox 5"/>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Intro + Two Content]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828800"/>
            <a:ext cx="3657600" cy="2286000"/>
          </a:xfrm>
          <a:prstGeom prst="rect">
            <a:avLst/>
          </a:prstGeom>
          <a:noFill/>
        </p:spPr>
        <p:txBody>
          <a:bodyPr wrap="square">
            <a:spAutoFit/>
          </a:bodyPr>
          <a:lstStyle/>
          <a:p>
            <a:r>
              <a:rPr sz="1800" b="1">
                <a:solidFill>
                  <a:srgbClr val="FFFFFF"/>
                </a:solidFill>
                <a:latin typeface="Arial"/>
              </a:rPr>
              <a:t>Annual Leadership Summit 2025</a:t>
            </a:r>
            <a:br/>
            <a:br/>
            <a:r>
              <a:t>Join 500+ executives for two days of strategic insight and networking.</a:t>
            </a:r>
          </a:p>
        </p:txBody>
      </p:sp>
      <p:sp>
        <p:nvSpPr>
          <p:cNvPr id="4" name="TextBox 3"/>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Picture with Pullout]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Revenue Growth by Segment</a:t>
            </a:r>
          </a:p>
        </p:txBody>
      </p:sp>
      <p:pic>
        <p:nvPicPr>
          <p:cNvPr id="3" name="Picture 2" descr="image.png"/>
          <p:cNvPicPr>
            <a:picLocks noChangeAspect="1"/>
          </p:cNvPicPr>
          <p:nvPr/>
        </p:nvPicPr>
        <p:blipFill>
          <a:blip r:embed="rId2"/>
          <a:stretch>
            <a:fillRect/>
          </a:stretch>
        </p:blipFill>
        <p:spPr>
          <a:xfrm>
            <a:off x="457200" y="1371600"/>
            <a:ext cx="5486400" cy="4114800"/>
          </a:xfrm>
          <a:prstGeom prst="rect">
            <a:avLst/>
          </a:prstGeom>
        </p:spPr>
      </p:pic>
      <p:sp>
        <p:nvSpPr>
          <p:cNvPr id="4" name="TextBox 3"/>
          <p:cNvSpPr txBox="1"/>
          <p:nvPr/>
        </p:nvSpPr>
        <p:spPr>
          <a:xfrm>
            <a:off x="6400800" y="1371600"/>
            <a:ext cx="5029200" cy="4114800"/>
          </a:xfrm>
          <a:prstGeom prst="rect">
            <a:avLst/>
          </a:prstGeom>
          <a:noFill/>
        </p:spPr>
        <p:txBody>
          <a:bodyPr wrap="square">
            <a:spAutoFit/>
          </a:bodyPr>
          <a:lstStyle/>
          <a:p>
            <a:r>
              <a:rPr sz="1300">
                <a:solidFill>
                  <a:srgbClr val="3C3C3C"/>
                </a:solidFill>
                <a:latin typeface="Arial"/>
              </a:rPr>
              <a:t>Key Insights</a:t>
            </a:r>
            <a:br/>
            <a:br/>
            <a:r>
              <a:t>The enterprise segment delivered the strongest growth at 23% YoY, driven by cloud migration projects. Small-to-medium business revenue grew steadily at 12%, while the consumer segment saw a modest 4% increase.</a:t>
            </a:r>
            <a:br/>
            <a:br/>
            <a:r>
              <a:t>Strategic priority for FY26 is to accelerate enterprise partnerships and invest in SMB digital acquisition channels to sustain momentum across both segments.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Graph with Block]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Competitive Positioning Strategy</a:t>
            </a:r>
          </a:p>
        </p:txBody>
      </p:sp>
      <p:sp>
        <p:nvSpPr>
          <p:cNvPr id="3" name="TextBox 2"/>
          <p:cNvSpPr txBox="1"/>
          <p:nvPr/>
        </p:nvSpPr>
        <p:spPr>
          <a:xfrm>
            <a:off x="457200" y="1371600"/>
            <a:ext cx="5486400" cy="4114800"/>
          </a:xfrm>
          <a:prstGeom prst="rect">
            <a:avLst/>
          </a:prstGeom>
          <a:noFill/>
        </p:spPr>
        <p:txBody>
          <a:bodyPr wrap="square">
            <a:spAutoFit/>
          </a:bodyPr>
          <a:lstStyle/>
          <a:p>
            <a:r>
              <a:rPr sz="1400">
                <a:solidFill>
                  <a:srgbClr val="3C3C3C"/>
                </a:solidFill>
                <a:latin typeface="Arial"/>
              </a:rPr>
              <a:t>Our competitive positioning must address three critical dimensions:</a:t>
            </a:r>
            <a:br/>
            <a:br/>
            <a:r>
              <a:t>1. Value Differentiation — what makes us uniquely valuable to customers</a:t>
            </a:r>
            <a:br/>
            <a:r>
              <a:t>2. Market Focus — which segments offer the greatest strategic opportunity</a:t>
            </a:r>
            <a:br/>
            <a:r>
              <a:t>3. Capability Alignment — how our resources support the chosen position</a:t>
            </a:r>
            <a:br/>
            <a:br/>
            <a:r>
              <a:t>Porter's generic strategies framework suggests organisations must commit fully to either cost leadership, differentiation, or focus. Attempting to pursue multiple strategies simultaneously risks becoming 'stuck in the middle'.</a:t>
            </a:r>
          </a:p>
        </p:txBody>
      </p:sp>
      <p:sp>
        <p:nvSpPr>
          <p:cNvPr id="4" name="TextBox 3"/>
          <p:cNvSpPr txBox="1"/>
          <p:nvPr/>
        </p:nvSpPr>
        <p:spPr>
          <a:xfrm>
            <a:off x="6400800" y="1371600"/>
            <a:ext cx="5029200" cy="4114800"/>
          </a:xfrm>
          <a:prstGeom prst="rect">
            <a:avLst/>
          </a:prstGeom>
          <a:noFill/>
        </p:spPr>
        <p:txBody>
          <a:bodyPr wrap="square">
            <a:spAutoFit/>
          </a:bodyPr>
          <a:lstStyle/>
          <a:p>
            <a:r>
              <a:rPr sz="1300">
                <a:solidFill>
                  <a:srgbClr val="3C3C3C"/>
                </a:solidFill>
                <a:latin typeface="Arial"/>
              </a:rPr>
              <a:t>The differentiation advantage</a:t>
            </a:r>
            <a:br/>
            <a:br/>
            <a:r>
              <a:t>Companies with clear differentiation strategies earn 15-20% higher margins than industry averages. The key is identifying and investing in capabilities that are valuable, rare, inimitable, and organisationally supported (VRIO).</a:t>
            </a:r>
            <a:br/>
            <a:br/>
            <a:r>
              <a:t>Our analysis suggests data analytics and customer intimacy represent our strongest differentiation opportunities.</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Text with Block]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640080"/>
          </a:xfrm>
          <a:prstGeom prst="rect">
            <a:avLst/>
          </a:prstGeom>
          <a:noFill/>
        </p:spPr>
        <p:txBody>
          <a:bodyPr wrap="square">
            <a:spAutoFit/>
          </a:bodyPr>
          <a:lstStyle/>
          <a:p>
            <a:r>
              <a:rPr sz="3200" b="1">
                <a:solidFill>
                  <a:srgbClr val="282850"/>
                </a:solidFill>
                <a:latin typeface="Arial"/>
              </a:rPr>
              <a:t>Financial Performance Dashboard</a:t>
            </a:r>
          </a:p>
        </p:txBody>
      </p:sp>
      <p:sp>
        <p:nvSpPr>
          <p:cNvPr id="3" name="TextBox 2"/>
          <p:cNvSpPr txBox="1"/>
          <p:nvPr/>
        </p:nvSpPr>
        <p:spPr>
          <a:xfrm>
            <a:off x="457200" y="914400"/>
            <a:ext cx="9144000" cy="457200"/>
          </a:xfrm>
          <a:prstGeom prst="rect">
            <a:avLst/>
          </a:prstGeom>
          <a:noFill/>
        </p:spPr>
        <p:txBody>
          <a:bodyPr wrap="square">
            <a:spAutoFit/>
          </a:bodyPr>
          <a:lstStyle/>
          <a:p>
            <a:r>
              <a:rPr sz="1400">
                <a:solidFill>
                  <a:srgbClr val="646464"/>
                </a:solidFill>
                <a:latin typeface="Arial"/>
              </a:rPr>
              <a:t>Year-to-date performance against strategic targets — updated March 2025</a:t>
            </a:r>
          </a:p>
        </p:txBody>
      </p:sp>
      <p:pic>
        <p:nvPicPr>
          <p:cNvPr id="4" name="Picture 3" descr="image.png"/>
          <p:cNvPicPr>
            <a:picLocks noChangeAspect="1"/>
          </p:cNvPicPr>
          <p:nvPr/>
        </p:nvPicPr>
        <p:blipFill>
          <a:blip r:embed="rId2"/>
          <a:stretch>
            <a:fillRect/>
          </a:stretch>
        </p:blipFill>
        <p:spPr>
          <a:xfrm>
            <a:off x="457200" y="1828800"/>
            <a:ext cx="5303520" cy="4114800"/>
          </a:xfrm>
          <a:prstGeom prst="rect">
            <a:avLst/>
          </a:prstGeom>
        </p:spPr>
      </p:pic>
      <p:pic>
        <p:nvPicPr>
          <p:cNvPr id="5" name="Picture 4" descr="image.png"/>
          <p:cNvPicPr>
            <a:picLocks noChangeAspect="1"/>
          </p:cNvPicPr>
          <p:nvPr/>
        </p:nvPicPr>
        <p:blipFill>
          <a:blip r:embed="rId3"/>
          <a:stretch>
            <a:fillRect/>
          </a:stretch>
        </p:blipFill>
        <p:spPr>
          <a:xfrm>
            <a:off x="6217920" y="1828800"/>
            <a:ext cx="5303520" cy="4114800"/>
          </a:xfrm>
          <a:prstGeom prst="rect">
            <a:avLst/>
          </a:prstGeom>
        </p:spPr>
      </p:pic>
      <p:sp>
        <p:nvSpPr>
          <p:cNvPr id="6" name="TextBox 5"/>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Title, Subtitle, 2 Graphs]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Strategic Priorities for 2025</a:t>
            </a:r>
          </a:p>
        </p:txBody>
      </p:sp>
      <p:sp>
        <p:nvSpPr>
          <p:cNvPr id="3" name="TextBox 2"/>
          <p:cNvSpPr txBox="1"/>
          <p:nvPr/>
        </p:nvSpPr>
        <p:spPr>
          <a:xfrm>
            <a:off x="457200" y="1645920"/>
            <a:ext cx="3474720" cy="548640"/>
          </a:xfrm>
          <a:prstGeom prst="rect">
            <a:avLst/>
          </a:prstGeom>
          <a:noFill/>
        </p:spPr>
        <p:txBody>
          <a:bodyPr wrap="square">
            <a:spAutoFit/>
          </a:bodyPr>
          <a:lstStyle/>
          <a:p>
            <a:r>
              <a:rPr sz="1800" b="1">
                <a:solidFill>
                  <a:srgbClr val="285078"/>
                </a:solidFill>
                <a:latin typeface="Arial"/>
              </a:rPr>
              <a:t>Customer-Centricity</a:t>
            </a:r>
          </a:p>
        </p:txBody>
      </p:sp>
      <p:sp>
        <p:nvSpPr>
          <p:cNvPr id="4" name="TextBox 3"/>
          <p:cNvSpPr txBox="1"/>
          <p:nvPr/>
        </p:nvSpPr>
        <p:spPr>
          <a:xfrm>
            <a:off x="457200" y="2377440"/>
            <a:ext cx="3474720" cy="1828800"/>
          </a:xfrm>
          <a:prstGeom prst="rect">
            <a:avLst/>
          </a:prstGeom>
          <a:noFill/>
        </p:spPr>
        <p:txBody>
          <a:bodyPr wrap="square">
            <a:spAutoFit/>
          </a:bodyPr>
          <a:lstStyle/>
          <a:p>
            <a:r>
              <a:rPr sz="1300">
                <a:solidFill>
                  <a:srgbClr val="464646"/>
                </a:solidFill>
                <a:latin typeface="Arial"/>
              </a:rPr>
              <a:t>Place the customer at the heart of every decision. Invest in journey mapping and real-time feedback loops.</a:t>
            </a:r>
          </a:p>
        </p:txBody>
      </p:sp>
      <p:sp>
        <p:nvSpPr>
          <p:cNvPr id="5" name="TextBox 4"/>
          <p:cNvSpPr txBox="1"/>
          <p:nvPr/>
        </p:nvSpPr>
        <p:spPr>
          <a:xfrm>
            <a:off x="4389120" y="1645920"/>
            <a:ext cx="3474720" cy="548640"/>
          </a:xfrm>
          <a:prstGeom prst="rect">
            <a:avLst/>
          </a:prstGeom>
          <a:noFill/>
        </p:spPr>
        <p:txBody>
          <a:bodyPr wrap="square">
            <a:spAutoFit/>
          </a:bodyPr>
          <a:lstStyle/>
          <a:p>
            <a:r>
              <a:rPr sz="1800" b="1">
                <a:solidFill>
                  <a:srgbClr val="285078"/>
                </a:solidFill>
                <a:latin typeface="Arial"/>
              </a:rPr>
              <a:t>Operational Excellence</a:t>
            </a:r>
          </a:p>
        </p:txBody>
      </p:sp>
      <p:sp>
        <p:nvSpPr>
          <p:cNvPr id="6" name="TextBox 5"/>
          <p:cNvSpPr txBox="1"/>
          <p:nvPr/>
        </p:nvSpPr>
        <p:spPr>
          <a:xfrm>
            <a:off x="4389120" y="2377440"/>
            <a:ext cx="3474720" cy="1828800"/>
          </a:xfrm>
          <a:prstGeom prst="rect">
            <a:avLst/>
          </a:prstGeom>
          <a:noFill/>
        </p:spPr>
        <p:txBody>
          <a:bodyPr wrap="square">
            <a:spAutoFit/>
          </a:bodyPr>
          <a:lstStyle/>
          <a:p>
            <a:r>
              <a:rPr sz="1300">
                <a:solidFill>
                  <a:srgbClr val="464646"/>
                </a:solidFill>
                <a:latin typeface="Arial"/>
              </a:rPr>
              <a:t>Streamline processes through automation and lean principles. Target 20% efficiency gains by Q4.</a:t>
            </a:r>
          </a:p>
        </p:txBody>
      </p:sp>
      <p:sp>
        <p:nvSpPr>
          <p:cNvPr id="7" name="TextBox 6"/>
          <p:cNvSpPr txBox="1"/>
          <p:nvPr/>
        </p:nvSpPr>
        <p:spPr>
          <a:xfrm>
            <a:off x="8321040" y="1645920"/>
            <a:ext cx="3474720" cy="548640"/>
          </a:xfrm>
          <a:prstGeom prst="rect">
            <a:avLst/>
          </a:prstGeom>
          <a:noFill/>
        </p:spPr>
        <p:txBody>
          <a:bodyPr wrap="square">
            <a:spAutoFit/>
          </a:bodyPr>
          <a:lstStyle/>
          <a:p>
            <a:r>
              <a:rPr sz="1800" b="1">
                <a:solidFill>
                  <a:srgbClr val="285078"/>
                </a:solidFill>
                <a:latin typeface="Arial"/>
              </a:rPr>
              <a:t>Digital Transformation</a:t>
            </a:r>
          </a:p>
        </p:txBody>
      </p:sp>
      <p:sp>
        <p:nvSpPr>
          <p:cNvPr id="8" name="TextBox 7"/>
          <p:cNvSpPr txBox="1"/>
          <p:nvPr/>
        </p:nvSpPr>
        <p:spPr>
          <a:xfrm>
            <a:off x="8321040" y="2377440"/>
            <a:ext cx="3474720" cy="1828800"/>
          </a:xfrm>
          <a:prstGeom prst="rect">
            <a:avLst/>
          </a:prstGeom>
          <a:noFill/>
        </p:spPr>
        <p:txBody>
          <a:bodyPr wrap="square">
            <a:spAutoFit/>
          </a:bodyPr>
          <a:lstStyle/>
          <a:p>
            <a:r>
              <a:rPr sz="1300">
                <a:solidFill>
                  <a:srgbClr val="464646"/>
                </a:solidFill>
                <a:latin typeface="Arial"/>
              </a:rPr>
              <a:t>Accelerate cloud migration and AI adoption. Build data-driven decision making into daily operations.</a:t>
            </a:r>
          </a:p>
        </p:txBody>
      </p:sp>
      <p:sp>
        <p:nvSpPr>
          <p:cNvPr id="9" name="TextBox 8"/>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Three Pullouts]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Strategic Planning Process</a:t>
            </a:r>
          </a:p>
        </p:txBody>
      </p:sp>
      <p:sp>
        <p:nvSpPr>
          <p:cNvPr id="3" name="Rounded Rectangle 2"/>
          <p:cNvSpPr/>
          <p:nvPr/>
        </p:nvSpPr>
        <p:spPr>
          <a:xfrm>
            <a:off x="457200" y="2286000"/>
            <a:ext cx="2286000" cy="1371600"/>
          </a:xfrm>
          <a:prstGeom prst="roundRect">
            <a:avLst/>
          </a:prstGeom>
          <a:solidFill>
            <a:srgbClr val="46648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Analyse</a:t>
            </a:r>
          </a:p>
        </p:txBody>
      </p:sp>
      <p:sp>
        <p:nvSpPr>
          <p:cNvPr id="4" name="Rounded Rectangle 3"/>
          <p:cNvSpPr/>
          <p:nvPr/>
        </p:nvSpPr>
        <p:spPr>
          <a:xfrm>
            <a:off x="3200400" y="2286000"/>
            <a:ext cx="2286000" cy="1371600"/>
          </a:xfrm>
          <a:prstGeom prst="roundRect">
            <a:avLst/>
          </a:prstGeom>
          <a:solidFill>
            <a:srgbClr val="46648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Plan</a:t>
            </a:r>
          </a:p>
        </p:txBody>
      </p:sp>
      <p:sp>
        <p:nvSpPr>
          <p:cNvPr id="5" name="Rounded Rectangle 4"/>
          <p:cNvSpPr/>
          <p:nvPr/>
        </p:nvSpPr>
        <p:spPr>
          <a:xfrm>
            <a:off x="5943600" y="2286000"/>
            <a:ext cx="2286000" cy="1371600"/>
          </a:xfrm>
          <a:prstGeom prst="roundRect">
            <a:avLst/>
          </a:prstGeom>
          <a:solidFill>
            <a:srgbClr val="46648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Execute</a:t>
            </a:r>
          </a:p>
        </p:txBody>
      </p:sp>
      <p:sp>
        <p:nvSpPr>
          <p:cNvPr id="6" name="Rounded Rectangle 5"/>
          <p:cNvSpPr/>
          <p:nvPr/>
        </p:nvSpPr>
        <p:spPr>
          <a:xfrm>
            <a:off x="8686800" y="2286000"/>
            <a:ext cx="2286000" cy="1371600"/>
          </a:xfrm>
          <a:prstGeom prst="roundRect">
            <a:avLst/>
          </a:prstGeom>
          <a:solidFill>
            <a:srgbClr val="46648C"/>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Review</a:t>
            </a:r>
          </a:p>
        </p:txBody>
      </p:sp>
      <p:sp>
        <p:nvSpPr>
          <p:cNvPr id="7" name="TextBox 6"/>
          <p:cNvSpPr txBox="1"/>
          <p:nvPr/>
        </p:nvSpPr>
        <p:spPr>
          <a:xfrm>
            <a:off x="457200" y="4114800"/>
            <a:ext cx="10058400" cy="914400"/>
          </a:xfrm>
          <a:prstGeom prst="rect">
            <a:avLst/>
          </a:prstGeom>
          <a:noFill/>
        </p:spPr>
        <p:txBody>
          <a:bodyPr wrap="square">
            <a:spAutoFit/>
          </a:bodyPr>
          <a:lstStyle/>
          <a:p>
            <a:r>
              <a:rPr sz="1400">
                <a:solidFill>
                  <a:srgbClr val="646464"/>
                </a:solidFill>
                <a:latin typeface="Arial"/>
              </a:rPr>
              <a:t>A continuous cycle of strategic analysis, planning, execution and review</a:t>
            </a:r>
          </a:p>
        </p:txBody>
      </p:sp>
      <p:sp>
        <p:nvSpPr>
          <p:cNvPr id="8" name="TextBox 7"/>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Process Diagram]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Four Steps to Strategic Alignment</a:t>
            </a:r>
          </a:p>
        </p:txBody>
      </p:sp>
      <p:sp>
        <p:nvSpPr>
          <p:cNvPr id="3" name="TextBox 2"/>
          <p:cNvSpPr txBox="1"/>
          <p:nvPr/>
        </p:nvSpPr>
        <p:spPr>
          <a:xfrm>
            <a:off x="457200" y="1645920"/>
            <a:ext cx="2560320" cy="457200"/>
          </a:xfrm>
          <a:prstGeom prst="rect">
            <a:avLst/>
          </a:prstGeom>
          <a:noFill/>
        </p:spPr>
        <p:txBody>
          <a:bodyPr wrap="square">
            <a:spAutoFit/>
          </a:bodyPr>
          <a:lstStyle/>
          <a:p>
            <a:r>
              <a:rPr sz="1400" b="1">
                <a:solidFill>
                  <a:srgbClr val="646464"/>
                </a:solidFill>
                <a:latin typeface="Arial"/>
              </a:rPr>
              <a:t>Step 1</a:t>
            </a:r>
          </a:p>
        </p:txBody>
      </p:sp>
      <p:sp>
        <p:nvSpPr>
          <p:cNvPr id="4" name="TextBox 3"/>
          <p:cNvSpPr txBox="1"/>
          <p:nvPr/>
        </p:nvSpPr>
        <p:spPr>
          <a:xfrm>
            <a:off x="457200" y="2103120"/>
            <a:ext cx="2560320" cy="548640"/>
          </a:xfrm>
          <a:prstGeom prst="rect">
            <a:avLst/>
          </a:prstGeom>
          <a:noFill/>
        </p:spPr>
        <p:txBody>
          <a:bodyPr wrap="square">
            <a:spAutoFit/>
          </a:bodyPr>
          <a:lstStyle/>
          <a:p>
            <a:r>
              <a:rPr sz="2000" b="1">
                <a:solidFill>
                  <a:srgbClr val="285078"/>
                </a:solidFill>
                <a:latin typeface="Arial"/>
              </a:rPr>
              <a:t>Assess</a:t>
            </a:r>
          </a:p>
        </p:txBody>
      </p:sp>
      <p:sp>
        <p:nvSpPr>
          <p:cNvPr id="5" name="TextBox 4"/>
          <p:cNvSpPr txBox="1"/>
          <p:nvPr/>
        </p:nvSpPr>
        <p:spPr>
          <a:xfrm>
            <a:off x="457200" y="2834640"/>
            <a:ext cx="2560320" cy="1828800"/>
          </a:xfrm>
          <a:prstGeom prst="rect">
            <a:avLst/>
          </a:prstGeom>
          <a:noFill/>
        </p:spPr>
        <p:txBody>
          <a:bodyPr wrap="square">
            <a:spAutoFit/>
          </a:bodyPr>
          <a:lstStyle/>
          <a:p>
            <a:r>
              <a:rPr sz="1200">
                <a:solidFill>
                  <a:srgbClr val="464646"/>
                </a:solidFill>
                <a:latin typeface="Arial"/>
              </a:rPr>
              <a:t>Evaluate current state of alignment across all business units</a:t>
            </a:r>
          </a:p>
        </p:txBody>
      </p:sp>
      <p:sp>
        <p:nvSpPr>
          <p:cNvPr id="6" name="TextBox 5"/>
          <p:cNvSpPr txBox="1"/>
          <p:nvPr/>
        </p:nvSpPr>
        <p:spPr>
          <a:xfrm>
            <a:off x="3383280" y="1645920"/>
            <a:ext cx="2560320" cy="457200"/>
          </a:xfrm>
          <a:prstGeom prst="rect">
            <a:avLst/>
          </a:prstGeom>
          <a:noFill/>
        </p:spPr>
        <p:txBody>
          <a:bodyPr wrap="square">
            <a:spAutoFit/>
          </a:bodyPr>
          <a:lstStyle/>
          <a:p>
            <a:r>
              <a:rPr sz="1400" b="1">
                <a:solidFill>
                  <a:srgbClr val="646464"/>
                </a:solidFill>
                <a:latin typeface="Arial"/>
              </a:rPr>
              <a:t>Step 2</a:t>
            </a:r>
          </a:p>
        </p:txBody>
      </p:sp>
      <p:sp>
        <p:nvSpPr>
          <p:cNvPr id="7" name="TextBox 6"/>
          <p:cNvSpPr txBox="1"/>
          <p:nvPr/>
        </p:nvSpPr>
        <p:spPr>
          <a:xfrm>
            <a:off x="3383280" y="2103120"/>
            <a:ext cx="2560320" cy="548640"/>
          </a:xfrm>
          <a:prstGeom prst="rect">
            <a:avLst/>
          </a:prstGeom>
          <a:noFill/>
        </p:spPr>
        <p:txBody>
          <a:bodyPr wrap="square">
            <a:spAutoFit/>
          </a:bodyPr>
          <a:lstStyle/>
          <a:p>
            <a:r>
              <a:rPr sz="2000" b="1">
                <a:solidFill>
                  <a:srgbClr val="285078"/>
                </a:solidFill>
                <a:latin typeface="Arial"/>
              </a:rPr>
              <a:t>Design</a:t>
            </a:r>
          </a:p>
        </p:txBody>
      </p:sp>
      <p:sp>
        <p:nvSpPr>
          <p:cNvPr id="8" name="TextBox 7"/>
          <p:cNvSpPr txBox="1"/>
          <p:nvPr/>
        </p:nvSpPr>
        <p:spPr>
          <a:xfrm>
            <a:off x="3383280" y="2834640"/>
            <a:ext cx="2560320" cy="1828800"/>
          </a:xfrm>
          <a:prstGeom prst="rect">
            <a:avLst/>
          </a:prstGeom>
          <a:noFill/>
        </p:spPr>
        <p:txBody>
          <a:bodyPr wrap="square">
            <a:spAutoFit/>
          </a:bodyPr>
          <a:lstStyle/>
          <a:p>
            <a:r>
              <a:rPr sz="1200">
                <a:solidFill>
                  <a:srgbClr val="464646"/>
                </a:solidFill>
                <a:latin typeface="Arial"/>
              </a:rPr>
              <a:t>Create a roadmap linking strategic objectives to team-level OKRs</a:t>
            </a:r>
          </a:p>
        </p:txBody>
      </p:sp>
      <p:sp>
        <p:nvSpPr>
          <p:cNvPr id="9" name="TextBox 8"/>
          <p:cNvSpPr txBox="1"/>
          <p:nvPr/>
        </p:nvSpPr>
        <p:spPr>
          <a:xfrm>
            <a:off x="6309360" y="1645920"/>
            <a:ext cx="2560320" cy="457200"/>
          </a:xfrm>
          <a:prstGeom prst="rect">
            <a:avLst/>
          </a:prstGeom>
          <a:noFill/>
        </p:spPr>
        <p:txBody>
          <a:bodyPr wrap="square">
            <a:spAutoFit/>
          </a:bodyPr>
          <a:lstStyle/>
          <a:p>
            <a:r>
              <a:rPr sz="1400" b="1">
                <a:solidFill>
                  <a:srgbClr val="646464"/>
                </a:solidFill>
                <a:latin typeface="Arial"/>
              </a:rPr>
              <a:t>Step 3</a:t>
            </a:r>
          </a:p>
        </p:txBody>
      </p:sp>
      <p:sp>
        <p:nvSpPr>
          <p:cNvPr id="10" name="TextBox 9"/>
          <p:cNvSpPr txBox="1"/>
          <p:nvPr/>
        </p:nvSpPr>
        <p:spPr>
          <a:xfrm>
            <a:off x="6309360" y="2103120"/>
            <a:ext cx="2560320" cy="548640"/>
          </a:xfrm>
          <a:prstGeom prst="rect">
            <a:avLst/>
          </a:prstGeom>
          <a:noFill/>
        </p:spPr>
        <p:txBody>
          <a:bodyPr wrap="square">
            <a:spAutoFit/>
          </a:bodyPr>
          <a:lstStyle/>
          <a:p>
            <a:r>
              <a:rPr sz="2000" b="1">
                <a:solidFill>
                  <a:srgbClr val="285078"/>
                </a:solidFill>
                <a:latin typeface="Arial"/>
              </a:rPr>
              <a:t>Implement</a:t>
            </a:r>
          </a:p>
        </p:txBody>
      </p:sp>
      <p:sp>
        <p:nvSpPr>
          <p:cNvPr id="11" name="TextBox 10"/>
          <p:cNvSpPr txBox="1"/>
          <p:nvPr/>
        </p:nvSpPr>
        <p:spPr>
          <a:xfrm>
            <a:off x="6309360" y="2834640"/>
            <a:ext cx="2560320" cy="1828800"/>
          </a:xfrm>
          <a:prstGeom prst="rect">
            <a:avLst/>
          </a:prstGeom>
          <a:noFill/>
        </p:spPr>
        <p:txBody>
          <a:bodyPr wrap="square">
            <a:spAutoFit/>
          </a:bodyPr>
          <a:lstStyle/>
          <a:p>
            <a:r>
              <a:rPr sz="1200">
                <a:solidFill>
                  <a:srgbClr val="464646"/>
                </a:solidFill>
                <a:latin typeface="Arial"/>
              </a:rPr>
              <a:t>Roll out alignment workshops and cascade objectives through the organisation</a:t>
            </a:r>
          </a:p>
        </p:txBody>
      </p:sp>
      <p:sp>
        <p:nvSpPr>
          <p:cNvPr id="12" name="TextBox 11"/>
          <p:cNvSpPr txBox="1"/>
          <p:nvPr/>
        </p:nvSpPr>
        <p:spPr>
          <a:xfrm>
            <a:off x="9235440" y="1645920"/>
            <a:ext cx="2560320" cy="457200"/>
          </a:xfrm>
          <a:prstGeom prst="rect">
            <a:avLst/>
          </a:prstGeom>
          <a:noFill/>
        </p:spPr>
        <p:txBody>
          <a:bodyPr wrap="square">
            <a:spAutoFit/>
          </a:bodyPr>
          <a:lstStyle/>
          <a:p>
            <a:r>
              <a:rPr sz="1400" b="1">
                <a:solidFill>
                  <a:srgbClr val="646464"/>
                </a:solidFill>
                <a:latin typeface="Arial"/>
              </a:rPr>
              <a:t>Step 4</a:t>
            </a:r>
          </a:p>
        </p:txBody>
      </p:sp>
      <p:sp>
        <p:nvSpPr>
          <p:cNvPr id="13" name="TextBox 12"/>
          <p:cNvSpPr txBox="1"/>
          <p:nvPr/>
        </p:nvSpPr>
        <p:spPr>
          <a:xfrm>
            <a:off x="9235440" y="2103120"/>
            <a:ext cx="2560320" cy="548640"/>
          </a:xfrm>
          <a:prstGeom prst="rect">
            <a:avLst/>
          </a:prstGeom>
          <a:noFill/>
        </p:spPr>
        <p:txBody>
          <a:bodyPr wrap="square">
            <a:spAutoFit/>
          </a:bodyPr>
          <a:lstStyle/>
          <a:p>
            <a:r>
              <a:rPr sz="2000" b="1">
                <a:solidFill>
                  <a:srgbClr val="285078"/>
                </a:solidFill>
                <a:latin typeface="Arial"/>
              </a:rPr>
              <a:t>Monitor</a:t>
            </a:r>
          </a:p>
        </p:txBody>
      </p:sp>
      <p:sp>
        <p:nvSpPr>
          <p:cNvPr id="14" name="TextBox 13"/>
          <p:cNvSpPr txBox="1"/>
          <p:nvPr/>
        </p:nvSpPr>
        <p:spPr>
          <a:xfrm>
            <a:off x="9235440" y="2834640"/>
            <a:ext cx="2560320" cy="1828800"/>
          </a:xfrm>
          <a:prstGeom prst="rect">
            <a:avLst/>
          </a:prstGeom>
          <a:noFill/>
        </p:spPr>
        <p:txBody>
          <a:bodyPr wrap="square">
            <a:spAutoFit/>
          </a:bodyPr>
          <a:lstStyle/>
          <a:p>
            <a:r>
              <a:rPr sz="1200">
                <a:solidFill>
                  <a:srgbClr val="464646"/>
                </a:solidFill>
                <a:latin typeface="Arial"/>
              </a:rPr>
              <a:t>Track progress through quarterly reviews and adjust as needed</a:t>
            </a:r>
          </a:p>
        </p:txBody>
      </p:sp>
      <p:sp>
        <p:nvSpPr>
          <p:cNvPr id="15" name="TextBox 1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Order]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Core Competencies</a:t>
            </a:r>
          </a:p>
        </p:txBody>
      </p:sp>
      <p:sp>
        <p:nvSpPr>
          <p:cNvPr id="3" name="TextBox 2"/>
          <p:cNvSpPr txBox="1"/>
          <p:nvPr/>
        </p:nvSpPr>
        <p:spPr>
          <a:xfrm>
            <a:off x="457200" y="1645920"/>
            <a:ext cx="3200400" cy="457200"/>
          </a:xfrm>
          <a:prstGeom prst="rect">
            <a:avLst/>
          </a:prstGeom>
          <a:noFill/>
        </p:spPr>
        <p:txBody>
          <a:bodyPr wrap="square">
            <a:spAutoFit/>
          </a:bodyPr>
          <a:lstStyle/>
          <a:p>
            <a:r>
              <a:rPr sz="1600" b="1">
                <a:solidFill>
                  <a:srgbClr val="285078"/>
                </a:solidFill>
                <a:latin typeface="Arial"/>
              </a:rPr>
              <a:t>Leadership</a:t>
            </a:r>
          </a:p>
        </p:txBody>
      </p:sp>
      <p:sp>
        <p:nvSpPr>
          <p:cNvPr id="4" name="TextBox 3"/>
          <p:cNvSpPr txBox="1"/>
          <p:nvPr/>
        </p:nvSpPr>
        <p:spPr>
          <a:xfrm>
            <a:off x="457200" y="2194560"/>
            <a:ext cx="3200400" cy="1097280"/>
          </a:xfrm>
          <a:prstGeom prst="rect">
            <a:avLst/>
          </a:prstGeom>
          <a:noFill/>
        </p:spPr>
        <p:txBody>
          <a:bodyPr wrap="square">
            <a:spAutoFit/>
          </a:bodyPr>
          <a:lstStyle/>
          <a:p>
            <a:r>
              <a:rPr sz="1200">
                <a:solidFill>
                  <a:srgbClr val="505050"/>
                </a:solidFill>
                <a:latin typeface="Arial"/>
              </a:rPr>
              <a:t>Inspire and guide teams through complex change initiatives</a:t>
            </a:r>
          </a:p>
        </p:txBody>
      </p:sp>
      <p:sp>
        <p:nvSpPr>
          <p:cNvPr id="5" name="TextBox 4"/>
          <p:cNvSpPr txBox="1"/>
          <p:nvPr/>
        </p:nvSpPr>
        <p:spPr>
          <a:xfrm>
            <a:off x="4297680" y="1645920"/>
            <a:ext cx="3200400" cy="457200"/>
          </a:xfrm>
          <a:prstGeom prst="rect">
            <a:avLst/>
          </a:prstGeom>
          <a:noFill/>
        </p:spPr>
        <p:txBody>
          <a:bodyPr wrap="square">
            <a:spAutoFit/>
          </a:bodyPr>
          <a:lstStyle/>
          <a:p>
            <a:r>
              <a:rPr sz="1600" b="1">
                <a:solidFill>
                  <a:srgbClr val="285078"/>
                </a:solidFill>
                <a:latin typeface="Arial"/>
              </a:rPr>
              <a:t>Analytics</a:t>
            </a:r>
          </a:p>
        </p:txBody>
      </p:sp>
      <p:sp>
        <p:nvSpPr>
          <p:cNvPr id="6" name="TextBox 5"/>
          <p:cNvSpPr txBox="1"/>
          <p:nvPr/>
        </p:nvSpPr>
        <p:spPr>
          <a:xfrm>
            <a:off x="4297680" y="2194560"/>
            <a:ext cx="3200400" cy="1097280"/>
          </a:xfrm>
          <a:prstGeom prst="rect">
            <a:avLst/>
          </a:prstGeom>
          <a:noFill/>
        </p:spPr>
        <p:txBody>
          <a:bodyPr wrap="square">
            <a:spAutoFit/>
          </a:bodyPr>
          <a:lstStyle/>
          <a:p>
            <a:r>
              <a:rPr sz="1200">
                <a:solidFill>
                  <a:srgbClr val="505050"/>
                </a:solidFill>
                <a:latin typeface="Arial"/>
              </a:rPr>
              <a:t>Transform data into actionable strategic insights</a:t>
            </a:r>
          </a:p>
        </p:txBody>
      </p:sp>
      <p:sp>
        <p:nvSpPr>
          <p:cNvPr id="7" name="TextBox 6"/>
          <p:cNvSpPr txBox="1"/>
          <p:nvPr/>
        </p:nvSpPr>
        <p:spPr>
          <a:xfrm>
            <a:off x="8138160" y="1645920"/>
            <a:ext cx="3200400" cy="457200"/>
          </a:xfrm>
          <a:prstGeom prst="rect">
            <a:avLst/>
          </a:prstGeom>
          <a:noFill/>
        </p:spPr>
        <p:txBody>
          <a:bodyPr wrap="square">
            <a:spAutoFit/>
          </a:bodyPr>
          <a:lstStyle/>
          <a:p>
            <a:r>
              <a:rPr sz="1600" b="1">
                <a:solidFill>
                  <a:srgbClr val="285078"/>
                </a:solidFill>
                <a:latin typeface="Arial"/>
              </a:rPr>
              <a:t>Innovation</a:t>
            </a:r>
          </a:p>
        </p:txBody>
      </p:sp>
      <p:sp>
        <p:nvSpPr>
          <p:cNvPr id="8" name="TextBox 7"/>
          <p:cNvSpPr txBox="1"/>
          <p:nvPr/>
        </p:nvSpPr>
        <p:spPr>
          <a:xfrm>
            <a:off x="8138160" y="2194560"/>
            <a:ext cx="3200400" cy="1097280"/>
          </a:xfrm>
          <a:prstGeom prst="rect">
            <a:avLst/>
          </a:prstGeom>
          <a:noFill/>
        </p:spPr>
        <p:txBody>
          <a:bodyPr wrap="square">
            <a:spAutoFit/>
          </a:bodyPr>
          <a:lstStyle/>
          <a:p>
            <a:r>
              <a:rPr sz="1200">
                <a:solidFill>
                  <a:srgbClr val="505050"/>
                </a:solidFill>
                <a:latin typeface="Arial"/>
              </a:rPr>
              <a:t>Foster creative solutions to emerging challenges</a:t>
            </a:r>
          </a:p>
        </p:txBody>
      </p:sp>
      <p:sp>
        <p:nvSpPr>
          <p:cNvPr id="9" name="TextBox 8"/>
          <p:cNvSpPr txBox="1"/>
          <p:nvPr/>
        </p:nvSpPr>
        <p:spPr>
          <a:xfrm>
            <a:off x="457200" y="3931920"/>
            <a:ext cx="3200400" cy="457200"/>
          </a:xfrm>
          <a:prstGeom prst="rect">
            <a:avLst/>
          </a:prstGeom>
          <a:noFill/>
        </p:spPr>
        <p:txBody>
          <a:bodyPr wrap="square">
            <a:spAutoFit/>
          </a:bodyPr>
          <a:lstStyle/>
          <a:p>
            <a:r>
              <a:rPr sz="1600" b="1">
                <a:solidFill>
                  <a:srgbClr val="285078"/>
                </a:solidFill>
                <a:latin typeface="Arial"/>
              </a:rPr>
              <a:t>Communication</a:t>
            </a:r>
          </a:p>
        </p:txBody>
      </p:sp>
      <p:sp>
        <p:nvSpPr>
          <p:cNvPr id="10" name="TextBox 9"/>
          <p:cNvSpPr txBox="1"/>
          <p:nvPr/>
        </p:nvSpPr>
        <p:spPr>
          <a:xfrm>
            <a:off x="457200" y="4480560"/>
            <a:ext cx="3200400" cy="1097280"/>
          </a:xfrm>
          <a:prstGeom prst="rect">
            <a:avLst/>
          </a:prstGeom>
          <a:noFill/>
        </p:spPr>
        <p:txBody>
          <a:bodyPr wrap="square">
            <a:spAutoFit/>
          </a:bodyPr>
          <a:lstStyle/>
          <a:p>
            <a:r>
              <a:rPr sz="1200">
                <a:solidFill>
                  <a:srgbClr val="505050"/>
                </a:solidFill>
                <a:latin typeface="Arial"/>
              </a:rPr>
              <a:t>Articulate vision clearly across all stakeholder groups</a:t>
            </a:r>
          </a:p>
        </p:txBody>
      </p:sp>
      <p:sp>
        <p:nvSpPr>
          <p:cNvPr id="11" name="TextBox 10"/>
          <p:cNvSpPr txBox="1"/>
          <p:nvPr/>
        </p:nvSpPr>
        <p:spPr>
          <a:xfrm>
            <a:off x="4297680" y="3931920"/>
            <a:ext cx="3200400" cy="457200"/>
          </a:xfrm>
          <a:prstGeom prst="rect">
            <a:avLst/>
          </a:prstGeom>
          <a:noFill/>
        </p:spPr>
        <p:txBody>
          <a:bodyPr wrap="square">
            <a:spAutoFit/>
          </a:bodyPr>
          <a:lstStyle/>
          <a:p>
            <a:r>
              <a:rPr sz="1600" b="1">
                <a:solidFill>
                  <a:srgbClr val="285078"/>
                </a:solidFill>
                <a:latin typeface="Arial"/>
              </a:rPr>
              <a:t>Collaboration</a:t>
            </a:r>
          </a:p>
        </p:txBody>
      </p:sp>
      <p:sp>
        <p:nvSpPr>
          <p:cNvPr id="12" name="TextBox 11"/>
          <p:cNvSpPr txBox="1"/>
          <p:nvPr/>
        </p:nvSpPr>
        <p:spPr>
          <a:xfrm>
            <a:off x="4297680" y="4480560"/>
            <a:ext cx="3200400" cy="1097280"/>
          </a:xfrm>
          <a:prstGeom prst="rect">
            <a:avLst/>
          </a:prstGeom>
          <a:noFill/>
        </p:spPr>
        <p:txBody>
          <a:bodyPr wrap="square">
            <a:spAutoFit/>
          </a:bodyPr>
          <a:lstStyle/>
          <a:p>
            <a:r>
              <a:rPr sz="1200">
                <a:solidFill>
                  <a:srgbClr val="505050"/>
                </a:solidFill>
                <a:latin typeface="Arial"/>
              </a:rPr>
              <a:t>Build high-performing cross-functional partnerships</a:t>
            </a:r>
          </a:p>
        </p:txBody>
      </p:sp>
      <p:sp>
        <p:nvSpPr>
          <p:cNvPr id="13" name="TextBox 12"/>
          <p:cNvSpPr txBox="1"/>
          <p:nvPr/>
        </p:nvSpPr>
        <p:spPr>
          <a:xfrm>
            <a:off x="8138160" y="3931920"/>
            <a:ext cx="3200400" cy="457200"/>
          </a:xfrm>
          <a:prstGeom prst="rect">
            <a:avLst/>
          </a:prstGeom>
          <a:noFill/>
        </p:spPr>
        <p:txBody>
          <a:bodyPr wrap="square">
            <a:spAutoFit/>
          </a:bodyPr>
          <a:lstStyle/>
          <a:p>
            <a:r>
              <a:rPr sz="1600" b="1">
                <a:solidFill>
                  <a:srgbClr val="285078"/>
                </a:solidFill>
                <a:latin typeface="Arial"/>
              </a:rPr>
              <a:t>Adaptability</a:t>
            </a:r>
          </a:p>
        </p:txBody>
      </p:sp>
      <p:sp>
        <p:nvSpPr>
          <p:cNvPr id="14" name="TextBox 13"/>
          <p:cNvSpPr txBox="1"/>
          <p:nvPr/>
        </p:nvSpPr>
        <p:spPr>
          <a:xfrm>
            <a:off x="8138160" y="4480560"/>
            <a:ext cx="3200400" cy="1097280"/>
          </a:xfrm>
          <a:prstGeom prst="rect">
            <a:avLst/>
          </a:prstGeom>
          <a:noFill/>
        </p:spPr>
        <p:txBody>
          <a:bodyPr wrap="square">
            <a:spAutoFit/>
          </a:bodyPr>
          <a:lstStyle/>
          <a:p>
            <a:r>
              <a:rPr sz="1200">
                <a:solidFill>
                  <a:srgbClr val="505050"/>
                </a:solidFill>
                <a:latin typeface="Arial"/>
              </a:rPr>
              <a:t>Navigate uncertainty with resilience and agility</a:t>
            </a:r>
          </a:p>
        </p:txBody>
      </p:sp>
      <p:sp>
        <p:nvSpPr>
          <p:cNvPr id="15" name="TextBox 1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Icons &amp; Text]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Our Campus Locations</a:t>
            </a:r>
          </a:p>
        </p:txBody>
      </p:sp>
      <p:sp>
        <p:nvSpPr>
          <p:cNvPr id="3" name="TextBox 2"/>
          <p:cNvSpPr txBox="1"/>
          <p:nvPr/>
        </p:nvSpPr>
        <p:spPr>
          <a:xfrm>
            <a:off x="457200" y="1371600"/>
            <a:ext cx="3200400" cy="457200"/>
          </a:xfrm>
          <a:prstGeom prst="rect">
            <a:avLst/>
          </a:prstGeom>
          <a:noFill/>
        </p:spPr>
        <p:txBody>
          <a:bodyPr wrap="square">
            <a:spAutoFit/>
          </a:bodyPr>
          <a:lstStyle/>
          <a:p>
            <a:r>
              <a:rPr sz="1800" b="1">
                <a:solidFill>
                  <a:srgbClr val="282850"/>
                </a:solidFill>
                <a:latin typeface="Arial"/>
              </a:rPr>
              <a:t>St Lucia</a:t>
            </a:r>
          </a:p>
        </p:txBody>
      </p:sp>
      <p:sp>
        <p:nvSpPr>
          <p:cNvPr id="4" name="TextBox 3"/>
          <p:cNvSpPr txBox="1"/>
          <p:nvPr/>
        </p:nvSpPr>
        <p:spPr>
          <a:xfrm>
            <a:off x="457200" y="1920240"/>
            <a:ext cx="3200400" cy="1097280"/>
          </a:xfrm>
          <a:prstGeom prst="rect">
            <a:avLst/>
          </a:prstGeom>
          <a:noFill/>
        </p:spPr>
        <p:txBody>
          <a:bodyPr wrap="square">
            <a:spAutoFit/>
          </a:bodyPr>
          <a:lstStyle/>
          <a:p>
            <a:r>
              <a:rPr sz="1300">
                <a:solidFill>
                  <a:srgbClr val="464646"/>
                </a:solidFill>
                <a:latin typeface="Arial"/>
              </a:rPr>
              <a:t>Main campus situated on the banks of the Brisbane River</a:t>
            </a:r>
          </a:p>
        </p:txBody>
      </p:sp>
      <p:pic>
        <p:nvPicPr>
          <p:cNvPr id="5" name="Picture 4" descr="image.png"/>
          <p:cNvPicPr>
            <a:picLocks noChangeAspect="1"/>
          </p:cNvPicPr>
          <p:nvPr/>
        </p:nvPicPr>
        <p:blipFill>
          <a:blip r:embed="rId2"/>
          <a:stretch>
            <a:fillRect/>
          </a:stretch>
        </p:blipFill>
        <p:spPr>
          <a:xfrm>
            <a:off x="457200" y="3200400"/>
            <a:ext cx="3200400" cy="2286000"/>
          </a:xfrm>
          <a:prstGeom prst="rect">
            <a:avLst/>
          </a:prstGeom>
        </p:spPr>
      </p:pic>
      <p:sp>
        <p:nvSpPr>
          <p:cNvPr id="6" name="TextBox 5"/>
          <p:cNvSpPr txBox="1"/>
          <p:nvPr/>
        </p:nvSpPr>
        <p:spPr>
          <a:xfrm>
            <a:off x="4297680" y="1371600"/>
            <a:ext cx="3200400" cy="457200"/>
          </a:xfrm>
          <a:prstGeom prst="rect">
            <a:avLst/>
          </a:prstGeom>
          <a:noFill/>
        </p:spPr>
        <p:txBody>
          <a:bodyPr wrap="square">
            <a:spAutoFit/>
          </a:bodyPr>
          <a:lstStyle/>
          <a:p>
            <a:r>
              <a:rPr sz="1800" b="1">
                <a:solidFill>
                  <a:srgbClr val="282850"/>
                </a:solidFill>
                <a:latin typeface="Arial"/>
              </a:rPr>
              <a:t>City</a:t>
            </a:r>
          </a:p>
        </p:txBody>
      </p:sp>
      <p:sp>
        <p:nvSpPr>
          <p:cNvPr id="7" name="TextBox 6"/>
          <p:cNvSpPr txBox="1"/>
          <p:nvPr/>
        </p:nvSpPr>
        <p:spPr>
          <a:xfrm>
            <a:off x="4297680" y="1920240"/>
            <a:ext cx="3200400" cy="1097280"/>
          </a:xfrm>
          <a:prstGeom prst="rect">
            <a:avLst/>
          </a:prstGeom>
          <a:noFill/>
        </p:spPr>
        <p:txBody>
          <a:bodyPr wrap="square">
            <a:spAutoFit/>
          </a:bodyPr>
          <a:lstStyle/>
          <a:p>
            <a:r>
              <a:rPr sz="1300">
                <a:solidFill>
                  <a:srgbClr val="464646"/>
                </a:solidFill>
                <a:latin typeface="Arial"/>
              </a:rPr>
              <a:t>CBD campus in the heart of Brisbane's business district</a:t>
            </a:r>
          </a:p>
        </p:txBody>
      </p:sp>
      <p:pic>
        <p:nvPicPr>
          <p:cNvPr id="8" name="Picture 7" descr="image.png"/>
          <p:cNvPicPr>
            <a:picLocks noChangeAspect="1"/>
          </p:cNvPicPr>
          <p:nvPr/>
        </p:nvPicPr>
        <p:blipFill>
          <a:blip r:embed="rId3"/>
          <a:stretch>
            <a:fillRect/>
          </a:stretch>
        </p:blipFill>
        <p:spPr>
          <a:xfrm>
            <a:off x="4297680" y="3200400"/>
            <a:ext cx="3200400" cy="2286000"/>
          </a:xfrm>
          <a:prstGeom prst="rect">
            <a:avLst/>
          </a:prstGeom>
        </p:spPr>
      </p:pic>
      <p:sp>
        <p:nvSpPr>
          <p:cNvPr id="9" name="TextBox 8"/>
          <p:cNvSpPr txBox="1"/>
          <p:nvPr/>
        </p:nvSpPr>
        <p:spPr>
          <a:xfrm>
            <a:off x="8138160" y="1371600"/>
            <a:ext cx="3200400" cy="457200"/>
          </a:xfrm>
          <a:prstGeom prst="rect">
            <a:avLst/>
          </a:prstGeom>
          <a:noFill/>
        </p:spPr>
        <p:txBody>
          <a:bodyPr wrap="square">
            <a:spAutoFit/>
          </a:bodyPr>
          <a:lstStyle/>
          <a:p>
            <a:r>
              <a:rPr sz="1800" b="1">
                <a:solidFill>
                  <a:srgbClr val="282850"/>
                </a:solidFill>
                <a:latin typeface="Arial"/>
              </a:rPr>
              <a:t>Gatton</a:t>
            </a:r>
          </a:p>
        </p:txBody>
      </p:sp>
      <p:sp>
        <p:nvSpPr>
          <p:cNvPr id="10" name="TextBox 9"/>
          <p:cNvSpPr txBox="1"/>
          <p:nvPr/>
        </p:nvSpPr>
        <p:spPr>
          <a:xfrm>
            <a:off x="8138160" y="1920240"/>
            <a:ext cx="3200400" cy="1097280"/>
          </a:xfrm>
          <a:prstGeom prst="rect">
            <a:avLst/>
          </a:prstGeom>
          <a:noFill/>
        </p:spPr>
        <p:txBody>
          <a:bodyPr wrap="square">
            <a:spAutoFit/>
          </a:bodyPr>
          <a:lstStyle/>
          <a:p>
            <a:r>
              <a:rPr sz="1300">
                <a:solidFill>
                  <a:srgbClr val="464646"/>
                </a:solidFill>
                <a:latin typeface="Arial"/>
              </a:rPr>
              <a:t>Regional campus specialising in agricultural sciences</a:t>
            </a:r>
          </a:p>
        </p:txBody>
      </p:sp>
      <p:pic>
        <p:nvPicPr>
          <p:cNvPr id="11" name="Picture 10" descr="image.png"/>
          <p:cNvPicPr>
            <a:picLocks noChangeAspect="1"/>
          </p:cNvPicPr>
          <p:nvPr/>
        </p:nvPicPr>
        <p:blipFill>
          <a:blip r:embed="rId4"/>
          <a:stretch>
            <a:fillRect/>
          </a:stretch>
        </p:blipFill>
        <p:spPr>
          <a:xfrm>
            <a:off x="8138160" y="3200400"/>
            <a:ext cx="3200400" cy="2286000"/>
          </a:xfrm>
          <a:prstGeom prst="rect">
            <a:avLst/>
          </a:prstGeom>
        </p:spPr>
      </p:pic>
      <p:sp>
        <p:nvSpPr>
          <p:cNvPr id="12" name="TextBox 11"/>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Three Column Text &amp; Images]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Strategic Framework Components</a:t>
            </a:r>
          </a:p>
        </p:txBody>
      </p:sp>
      <p:sp>
        <p:nvSpPr>
          <p:cNvPr id="3" name="TextBox 2"/>
          <p:cNvSpPr txBox="1"/>
          <p:nvPr/>
        </p:nvSpPr>
        <p:spPr>
          <a:xfrm>
            <a:off x="457200" y="1371600"/>
            <a:ext cx="4114800" cy="4114800"/>
          </a:xfrm>
          <a:prstGeom prst="rect">
            <a:avLst/>
          </a:prstGeom>
          <a:noFill/>
        </p:spPr>
        <p:txBody>
          <a:bodyPr wrap="square">
            <a:spAutoFit/>
          </a:bodyPr>
          <a:lstStyle/>
          <a:p>
            <a:r>
              <a:rPr sz="1300">
                <a:solidFill>
                  <a:srgbClr val="3C3C3C"/>
                </a:solidFill>
                <a:latin typeface="Arial"/>
              </a:rPr>
              <a:t>Internal Analysis</a:t>
            </a:r>
            <a:br/>
            <a:br/>
            <a:r>
              <a:t>• Resource audit and capability mapping</a:t>
            </a:r>
            <a:br/>
            <a:r>
              <a:t>• Value chain analysis</a:t>
            </a:r>
            <a:br/>
            <a:r>
              <a:t>• Core competency assessment</a:t>
            </a:r>
            <a:br/>
            <a:r>
              <a:t>• Financial health review</a:t>
            </a:r>
            <a:br/>
            <a:r>
              <a:t>• Organisational culture evaluation</a:t>
            </a:r>
          </a:p>
        </p:txBody>
      </p:sp>
      <p:sp>
        <p:nvSpPr>
          <p:cNvPr id="4" name="TextBox 3"/>
          <p:cNvSpPr txBox="1"/>
          <p:nvPr/>
        </p:nvSpPr>
        <p:spPr>
          <a:xfrm>
            <a:off x="5029200" y="1371600"/>
            <a:ext cx="4114800" cy="4114800"/>
          </a:xfrm>
          <a:prstGeom prst="rect">
            <a:avLst/>
          </a:prstGeom>
          <a:noFill/>
        </p:spPr>
        <p:txBody>
          <a:bodyPr wrap="square">
            <a:spAutoFit/>
          </a:bodyPr>
          <a:lstStyle/>
          <a:p>
            <a:r>
              <a:rPr sz="1300">
                <a:solidFill>
                  <a:srgbClr val="3C3C3C"/>
                </a:solidFill>
                <a:latin typeface="Arial"/>
              </a:rPr>
              <a:t>External Analysis</a:t>
            </a:r>
            <a:br/>
            <a:br/>
            <a:r>
              <a:t>• PESTEL macro-environment scan</a:t>
            </a:r>
            <a:br/>
            <a:r>
              <a:t>• Porter's Five Forces industry analysis</a:t>
            </a:r>
            <a:br/>
            <a:r>
              <a:t>• Competitor benchmarking</a:t>
            </a:r>
            <a:br/>
            <a:r>
              <a:t>• Market trend identification</a:t>
            </a:r>
            <a:br/>
            <a:r>
              <a:t>• Regulatory landscape review</a:t>
            </a:r>
          </a:p>
        </p:txBody>
      </p:sp>
      <p:sp>
        <p:nvSpPr>
          <p:cNvPr id="5" name="TextBox 4"/>
          <p:cNvSpPr txBox="1"/>
          <p:nvPr/>
        </p:nvSpPr>
        <p:spPr>
          <a:xfrm>
            <a:off x="9601200" y="1371600"/>
            <a:ext cx="2286000" cy="457200"/>
          </a:xfrm>
          <a:prstGeom prst="rect">
            <a:avLst/>
          </a:prstGeom>
          <a:noFill/>
        </p:spPr>
        <p:txBody>
          <a:bodyPr wrap="square">
            <a:spAutoFit/>
          </a:bodyPr>
          <a:lstStyle/>
          <a:p>
            <a:r>
              <a:rPr sz="1200" b="1">
                <a:solidFill>
                  <a:srgbClr val="50508C"/>
                </a:solidFill>
                <a:latin typeface="Arial"/>
              </a:rPr>
              <a:t>Vision</a:t>
            </a:r>
          </a:p>
        </p:txBody>
      </p:sp>
      <p:sp>
        <p:nvSpPr>
          <p:cNvPr id="6" name="TextBox 5"/>
          <p:cNvSpPr txBox="1"/>
          <p:nvPr/>
        </p:nvSpPr>
        <p:spPr>
          <a:xfrm>
            <a:off x="9601200" y="2468880"/>
            <a:ext cx="2286000" cy="457200"/>
          </a:xfrm>
          <a:prstGeom prst="rect">
            <a:avLst/>
          </a:prstGeom>
          <a:noFill/>
        </p:spPr>
        <p:txBody>
          <a:bodyPr wrap="square">
            <a:spAutoFit/>
          </a:bodyPr>
          <a:lstStyle/>
          <a:p>
            <a:r>
              <a:rPr sz="1200" b="1">
                <a:solidFill>
                  <a:srgbClr val="50508C"/>
                </a:solidFill>
                <a:latin typeface="Arial"/>
              </a:rPr>
              <a:t>Mission</a:t>
            </a:r>
          </a:p>
        </p:txBody>
      </p:sp>
      <p:sp>
        <p:nvSpPr>
          <p:cNvPr id="7" name="TextBox 6"/>
          <p:cNvSpPr txBox="1"/>
          <p:nvPr/>
        </p:nvSpPr>
        <p:spPr>
          <a:xfrm>
            <a:off x="9601200" y="3566160"/>
            <a:ext cx="2286000" cy="457200"/>
          </a:xfrm>
          <a:prstGeom prst="rect">
            <a:avLst/>
          </a:prstGeom>
          <a:noFill/>
        </p:spPr>
        <p:txBody>
          <a:bodyPr wrap="square">
            <a:spAutoFit/>
          </a:bodyPr>
          <a:lstStyle/>
          <a:p>
            <a:r>
              <a:rPr sz="1200" b="1">
                <a:solidFill>
                  <a:srgbClr val="50508C"/>
                </a:solidFill>
                <a:latin typeface="Arial"/>
              </a:rPr>
              <a:t>Values</a:t>
            </a:r>
          </a:p>
        </p:txBody>
      </p:sp>
      <p:sp>
        <p:nvSpPr>
          <p:cNvPr id="8" name="TextBox 7"/>
          <p:cNvSpPr txBox="1"/>
          <p:nvPr/>
        </p:nvSpPr>
        <p:spPr>
          <a:xfrm>
            <a:off x="9601200" y="4663440"/>
            <a:ext cx="2286000" cy="457200"/>
          </a:xfrm>
          <a:prstGeom prst="rect">
            <a:avLst/>
          </a:prstGeom>
          <a:noFill/>
        </p:spPr>
        <p:txBody>
          <a:bodyPr wrap="square">
            <a:spAutoFit/>
          </a:bodyPr>
          <a:lstStyle/>
          <a:p>
            <a:r>
              <a:rPr sz="1200" b="1">
                <a:solidFill>
                  <a:srgbClr val="50508C"/>
                </a:solidFill>
                <a:latin typeface="Arial"/>
              </a:rPr>
              <a:t>Goals</a:t>
            </a:r>
          </a:p>
        </p:txBody>
      </p:sp>
      <p:sp>
        <p:nvSpPr>
          <p:cNvPr id="9" name="TextBox 8"/>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Icons + Two Contents]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Quarterly Business Review</a:t>
            </a:r>
          </a:p>
        </p:txBody>
      </p:sp>
      <p:sp>
        <p:nvSpPr>
          <p:cNvPr id="3" name="TextBox 2"/>
          <p:cNvSpPr txBox="1"/>
          <p:nvPr/>
        </p:nvSpPr>
        <p:spPr>
          <a:xfrm>
            <a:off x="457200" y="1371600"/>
            <a:ext cx="5029200" cy="2103120"/>
          </a:xfrm>
          <a:prstGeom prst="rect">
            <a:avLst/>
          </a:prstGeom>
          <a:noFill/>
        </p:spPr>
        <p:txBody>
          <a:bodyPr wrap="square">
            <a:spAutoFit/>
          </a:bodyPr>
          <a:lstStyle/>
          <a:p>
            <a:r>
              <a:rPr sz="1200">
                <a:solidFill>
                  <a:srgbClr val="3C3C3C"/>
                </a:solidFill>
                <a:latin typeface="Arial"/>
              </a:rPr>
              <a:t>Revenue</a:t>
            </a:r>
            <a:br/>
            <a:br/>
            <a:r>
              <a:t>$42.3M total revenue, up 18% YoY. Enterprise segment led with 23% growth while SMB contributed steady 12% gains.</a:t>
            </a:r>
          </a:p>
        </p:txBody>
      </p:sp>
      <p:sp>
        <p:nvSpPr>
          <p:cNvPr id="4" name="TextBox 3"/>
          <p:cNvSpPr txBox="1"/>
          <p:nvPr/>
        </p:nvSpPr>
        <p:spPr>
          <a:xfrm>
            <a:off x="6217920" y="1371600"/>
            <a:ext cx="5029200" cy="2103120"/>
          </a:xfrm>
          <a:prstGeom prst="rect">
            <a:avLst/>
          </a:prstGeom>
          <a:noFill/>
        </p:spPr>
        <p:txBody>
          <a:bodyPr wrap="square">
            <a:spAutoFit/>
          </a:bodyPr>
          <a:lstStyle/>
          <a:p>
            <a:r>
              <a:rPr sz="1200">
                <a:solidFill>
                  <a:srgbClr val="3C3C3C"/>
                </a:solidFill>
                <a:latin typeface="Arial"/>
              </a:rPr>
              <a:t>Operations</a:t>
            </a:r>
            <a:br/>
            <a:br/>
            <a:r>
              <a:t>Delivery SLA compliance at 97.2%. New warehouse automation reduced fulfilment time by 35% and processing errors by 60%.</a:t>
            </a:r>
          </a:p>
        </p:txBody>
      </p:sp>
      <p:sp>
        <p:nvSpPr>
          <p:cNvPr id="5" name="TextBox 4"/>
          <p:cNvSpPr txBox="1"/>
          <p:nvPr/>
        </p:nvSpPr>
        <p:spPr>
          <a:xfrm>
            <a:off x="457200" y="3840480"/>
            <a:ext cx="5029200" cy="2103120"/>
          </a:xfrm>
          <a:prstGeom prst="rect">
            <a:avLst/>
          </a:prstGeom>
          <a:noFill/>
        </p:spPr>
        <p:txBody>
          <a:bodyPr wrap="square">
            <a:spAutoFit/>
          </a:bodyPr>
          <a:lstStyle/>
          <a:p>
            <a:r>
              <a:rPr sz="1200">
                <a:solidFill>
                  <a:srgbClr val="3C3C3C"/>
                </a:solidFill>
                <a:latin typeface="Arial"/>
              </a:rPr>
              <a:t>People</a:t>
            </a:r>
            <a:br/>
            <a:br/>
            <a:r>
              <a:t>Employee engagement score rose to 78 (from 71). Successfully onboarded 45 new hires. Voluntary attrition decreased to 8.2%.</a:t>
            </a:r>
          </a:p>
        </p:txBody>
      </p:sp>
      <p:sp>
        <p:nvSpPr>
          <p:cNvPr id="6" name="TextBox 5"/>
          <p:cNvSpPr txBox="1"/>
          <p:nvPr/>
        </p:nvSpPr>
        <p:spPr>
          <a:xfrm>
            <a:off x="6217920" y="3840480"/>
            <a:ext cx="5029200" cy="2103120"/>
          </a:xfrm>
          <a:prstGeom prst="rect">
            <a:avLst/>
          </a:prstGeom>
          <a:noFill/>
        </p:spPr>
        <p:txBody>
          <a:bodyPr wrap="square">
            <a:spAutoFit/>
          </a:bodyPr>
          <a:lstStyle/>
          <a:p>
            <a:r>
              <a:rPr sz="1200">
                <a:solidFill>
                  <a:srgbClr val="3C3C3C"/>
                </a:solidFill>
                <a:latin typeface="Arial"/>
              </a:rPr>
              <a:t>Innovation</a:t>
            </a:r>
            <a:br/>
            <a:br/>
            <a:r>
              <a:t>3 patent applications filed. Beta launch of AI-powered customer insights platform. Partnership signed with two university research labs.</a:t>
            </a:r>
          </a:p>
        </p:txBody>
      </p:sp>
      <p:sp>
        <p:nvSpPr>
          <p:cNvPr id="7" name="TextBox 6"/>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Multi-layout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Market Entry Strategy</a:t>
            </a:r>
          </a:p>
        </p:txBody>
      </p:sp>
      <p:sp>
        <p:nvSpPr>
          <p:cNvPr id="3" name="TextBox 2"/>
          <p:cNvSpPr txBox="1"/>
          <p:nvPr/>
        </p:nvSpPr>
        <p:spPr>
          <a:xfrm>
            <a:off x="457200" y="1371600"/>
            <a:ext cx="5029200" cy="2103120"/>
          </a:xfrm>
          <a:prstGeom prst="rect">
            <a:avLst/>
          </a:prstGeom>
          <a:noFill/>
        </p:spPr>
        <p:txBody>
          <a:bodyPr wrap="square">
            <a:spAutoFit/>
          </a:bodyPr>
          <a:lstStyle/>
          <a:p>
            <a:r>
              <a:rPr sz="1300">
                <a:solidFill>
                  <a:srgbClr val="3C3C3C"/>
                </a:solidFill>
                <a:latin typeface="Arial"/>
              </a:rPr>
              <a:t>Current Position</a:t>
            </a:r>
            <a:br/>
            <a:br/>
            <a:r>
              <a:t>Strong domestic market share (24%) with established brand recognition. Existing partnerships with three major distributors provide solid foundation for expansion into adjacent markets.</a:t>
            </a:r>
          </a:p>
        </p:txBody>
      </p:sp>
      <p:sp>
        <p:nvSpPr>
          <p:cNvPr id="4" name="TextBox 3"/>
          <p:cNvSpPr txBox="1"/>
          <p:nvPr/>
        </p:nvSpPr>
        <p:spPr>
          <a:xfrm>
            <a:off x="457200" y="3840480"/>
            <a:ext cx="5029200" cy="2103120"/>
          </a:xfrm>
          <a:prstGeom prst="rect">
            <a:avLst/>
          </a:prstGeom>
          <a:noFill/>
        </p:spPr>
        <p:txBody>
          <a:bodyPr wrap="square">
            <a:spAutoFit/>
          </a:bodyPr>
          <a:lstStyle/>
          <a:p>
            <a:r>
              <a:rPr sz="1300">
                <a:solidFill>
                  <a:srgbClr val="3C3C3C"/>
                </a:solidFill>
                <a:latin typeface="Arial"/>
              </a:rPr>
              <a:t>Growth Ambition</a:t>
            </a:r>
            <a:br/>
            <a:br/>
            <a:r>
              <a:t>Target 15% market share in APAC region within 3 years. Prioritise Singapore and Hong Kong as initial entry points leveraging existing client relationships.</a:t>
            </a:r>
          </a:p>
        </p:txBody>
      </p:sp>
      <p:sp>
        <p:nvSpPr>
          <p:cNvPr id="5" name="TextBox 4"/>
          <p:cNvSpPr txBox="1"/>
          <p:nvPr/>
        </p:nvSpPr>
        <p:spPr>
          <a:xfrm>
            <a:off x="6217920" y="1371600"/>
            <a:ext cx="5029200" cy="365760"/>
          </a:xfrm>
          <a:prstGeom prst="rect">
            <a:avLst/>
          </a:prstGeom>
          <a:noFill/>
        </p:spPr>
        <p:txBody>
          <a:bodyPr wrap="square">
            <a:spAutoFit/>
          </a:bodyPr>
          <a:lstStyle/>
          <a:p>
            <a:r>
              <a:rPr sz="1100" b="1">
                <a:solidFill>
                  <a:srgbClr val="8C3C3C"/>
                </a:solidFill>
                <a:latin typeface="Arial"/>
              </a:rPr>
              <a:t>Key Risk</a:t>
            </a:r>
          </a:p>
        </p:txBody>
      </p:sp>
      <p:sp>
        <p:nvSpPr>
          <p:cNvPr id="6" name="TextBox 5"/>
          <p:cNvSpPr txBox="1"/>
          <p:nvPr/>
        </p:nvSpPr>
        <p:spPr>
          <a:xfrm>
            <a:off x="6217920" y="1828800"/>
            <a:ext cx="5029200" cy="1371600"/>
          </a:xfrm>
          <a:prstGeom prst="rect">
            <a:avLst/>
          </a:prstGeom>
          <a:noFill/>
        </p:spPr>
        <p:txBody>
          <a:bodyPr wrap="square">
            <a:spAutoFit/>
          </a:bodyPr>
          <a:lstStyle/>
          <a:p>
            <a:r>
              <a:rPr sz="1300">
                <a:solidFill>
                  <a:srgbClr val="3C3C3C"/>
                </a:solidFill>
                <a:latin typeface="Arial"/>
              </a:rPr>
              <a:t>Regulatory complexity varies significantly across APAC markets. Compliance costs estimated at $2.4M for first 18 months of operations.</a:t>
            </a:r>
          </a:p>
        </p:txBody>
      </p:sp>
      <p:sp>
        <p:nvSpPr>
          <p:cNvPr id="7" name="TextBox 6"/>
          <p:cNvSpPr txBox="1"/>
          <p:nvPr/>
        </p:nvSpPr>
        <p:spPr>
          <a:xfrm>
            <a:off x="6217920" y="3474720"/>
            <a:ext cx="5029200" cy="365760"/>
          </a:xfrm>
          <a:prstGeom prst="rect">
            <a:avLst/>
          </a:prstGeom>
          <a:noFill/>
        </p:spPr>
        <p:txBody>
          <a:bodyPr wrap="square">
            <a:spAutoFit/>
          </a:bodyPr>
          <a:lstStyle/>
          <a:p>
            <a:r>
              <a:rPr sz="1100" b="1">
                <a:solidFill>
                  <a:srgbClr val="3C783C"/>
                </a:solidFill>
                <a:latin typeface="Arial"/>
              </a:rPr>
              <a:t>Key Opportunity</a:t>
            </a:r>
          </a:p>
        </p:txBody>
      </p:sp>
      <p:sp>
        <p:nvSpPr>
          <p:cNvPr id="8" name="TextBox 7"/>
          <p:cNvSpPr txBox="1"/>
          <p:nvPr/>
        </p:nvSpPr>
        <p:spPr>
          <a:xfrm>
            <a:off x="6217920" y="3931920"/>
            <a:ext cx="5029200" cy="1371600"/>
          </a:xfrm>
          <a:prstGeom prst="rect">
            <a:avLst/>
          </a:prstGeom>
          <a:noFill/>
        </p:spPr>
        <p:txBody>
          <a:bodyPr wrap="square">
            <a:spAutoFit/>
          </a:bodyPr>
          <a:lstStyle/>
          <a:p>
            <a:r>
              <a:rPr sz="1300">
                <a:solidFill>
                  <a:srgbClr val="3C3C3C"/>
                </a:solidFill>
                <a:latin typeface="Arial"/>
              </a:rPr>
              <a:t>Underserved mid-market segment in target regions. Competitors focused on enterprise only, leaving significant white space for our SMB solutions.</a:t>
            </a:r>
          </a:p>
        </p:txBody>
      </p:sp>
      <p:sp>
        <p:nvSpPr>
          <p:cNvPr id="9" name="TextBox 8"/>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Multi-layout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Campus Life at UQ Business School</a:t>
            </a:r>
          </a:p>
        </p:txBody>
      </p:sp>
      <p:sp>
        <p:nvSpPr>
          <p:cNvPr id="3" name="TextBox 2"/>
          <p:cNvSpPr txBox="1"/>
          <p:nvPr/>
        </p:nvSpPr>
        <p:spPr>
          <a:xfrm>
            <a:off x="457200" y="1371600"/>
            <a:ext cx="4572000" cy="3657600"/>
          </a:xfrm>
          <a:prstGeom prst="rect">
            <a:avLst/>
          </a:prstGeom>
          <a:noFill/>
        </p:spPr>
        <p:txBody>
          <a:bodyPr wrap="square">
            <a:spAutoFit/>
          </a:bodyPr>
          <a:lstStyle/>
          <a:p>
            <a:r>
              <a:rPr sz="1400">
                <a:solidFill>
                  <a:srgbClr val="3C3C3C"/>
                </a:solidFill>
                <a:latin typeface="Arial"/>
              </a:rPr>
              <a:t>UQ Business School offers a vibrant campus experience that blends academic rigour with practical industry engagement.</a:t>
            </a:r>
            <a:br/>
            <a:br/>
            <a:r>
              <a:t>Students benefit from state-of-the-art facilities, collaborative learning spaces, and regular networking events with industry leaders.</a:t>
            </a:r>
            <a:br/>
            <a:br/>
            <a:r>
              <a:t>Our diverse community of learners from over 40 countries creates a truly global perspective on business challenges and opportunities.</a:t>
            </a:r>
          </a:p>
        </p:txBody>
      </p:sp>
      <p:pic>
        <p:nvPicPr>
          <p:cNvPr id="4" name="Picture 3" descr="image.png"/>
          <p:cNvPicPr>
            <a:picLocks noChangeAspect="1"/>
          </p:cNvPicPr>
          <p:nvPr/>
        </p:nvPicPr>
        <p:blipFill>
          <a:blip r:embed="rId2"/>
          <a:stretch>
            <a:fillRect/>
          </a:stretch>
        </p:blipFill>
        <p:spPr>
          <a:xfrm>
            <a:off x="5486400" y="1371600"/>
            <a:ext cx="2743200" cy="2103120"/>
          </a:xfrm>
          <a:prstGeom prst="rect">
            <a:avLst/>
          </a:prstGeom>
        </p:spPr>
      </p:pic>
      <p:pic>
        <p:nvPicPr>
          <p:cNvPr id="5" name="Picture 4" descr="image.png"/>
          <p:cNvPicPr>
            <a:picLocks noChangeAspect="1"/>
          </p:cNvPicPr>
          <p:nvPr/>
        </p:nvPicPr>
        <p:blipFill>
          <a:blip r:embed="rId3"/>
          <a:stretch>
            <a:fillRect/>
          </a:stretch>
        </p:blipFill>
        <p:spPr>
          <a:xfrm>
            <a:off x="8686800" y="1371600"/>
            <a:ext cx="2743200" cy="2103120"/>
          </a:xfrm>
          <a:prstGeom prst="rect">
            <a:avLst/>
          </a:prstGeom>
        </p:spPr>
      </p:pic>
      <p:pic>
        <p:nvPicPr>
          <p:cNvPr id="6" name="Picture 5" descr="image.png"/>
          <p:cNvPicPr>
            <a:picLocks noChangeAspect="1"/>
          </p:cNvPicPr>
          <p:nvPr/>
        </p:nvPicPr>
        <p:blipFill>
          <a:blip r:embed="rId4"/>
          <a:stretch>
            <a:fillRect/>
          </a:stretch>
        </p:blipFill>
        <p:spPr>
          <a:xfrm>
            <a:off x="5486400" y="3931920"/>
            <a:ext cx="2743200" cy="2103120"/>
          </a:xfrm>
          <a:prstGeom prst="rect">
            <a:avLst/>
          </a:prstGeom>
        </p:spPr>
      </p:pic>
      <p:pic>
        <p:nvPicPr>
          <p:cNvPr id="7" name="Picture 6" descr="image.png"/>
          <p:cNvPicPr>
            <a:picLocks noChangeAspect="1"/>
          </p:cNvPicPr>
          <p:nvPr/>
        </p:nvPicPr>
        <p:blipFill>
          <a:blip r:embed="rId5"/>
          <a:stretch>
            <a:fillRect/>
          </a:stretch>
        </p:blipFill>
        <p:spPr>
          <a:xfrm>
            <a:off x="8686800" y="3931920"/>
            <a:ext cx="2743200" cy="2103120"/>
          </a:xfrm>
          <a:prstGeom prst="rect">
            <a:avLst/>
          </a:prstGeom>
        </p:spPr>
      </p:pic>
      <p:sp>
        <p:nvSpPr>
          <p:cNvPr id="8" name="TextBox 7"/>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Text with 4 Images]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731520"/>
          </a:xfrm>
          <a:prstGeom prst="rect">
            <a:avLst/>
          </a:prstGeom>
          <a:noFill/>
        </p:spPr>
        <p:txBody>
          <a:bodyPr wrap="square">
            <a:spAutoFit/>
          </a:bodyPr>
          <a:lstStyle/>
          <a:p>
            <a:r>
              <a:rPr sz="3600" b="1">
                <a:solidFill>
                  <a:srgbClr val="323232"/>
                </a:solidFill>
                <a:latin typeface="Arial"/>
              </a:rPr>
              <a:t>Event Highlights</a:t>
            </a:r>
          </a:p>
        </p:txBody>
      </p:sp>
      <p:pic>
        <p:nvPicPr>
          <p:cNvPr id="3" name="Picture 2" descr="image.png"/>
          <p:cNvPicPr>
            <a:picLocks noChangeAspect="1"/>
          </p:cNvPicPr>
          <p:nvPr/>
        </p:nvPicPr>
        <p:blipFill>
          <a:blip r:embed="rId2"/>
          <a:stretch>
            <a:fillRect/>
          </a:stretch>
        </p:blipFill>
        <p:spPr>
          <a:xfrm>
            <a:off x="457200" y="1371600"/>
            <a:ext cx="3657600" cy="2743200"/>
          </a:xfrm>
          <a:prstGeom prst="rect">
            <a:avLst/>
          </a:prstGeom>
        </p:spPr>
      </p:pic>
      <p:pic>
        <p:nvPicPr>
          <p:cNvPr id="4" name="Picture 3" descr="image.png"/>
          <p:cNvPicPr>
            <a:picLocks noChangeAspect="1"/>
          </p:cNvPicPr>
          <p:nvPr/>
        </p:nvPicPr>
        <p:blipFill>
          <a:blip r:embed="rId3"/>
          <a:stretch>
            <a:fillRect/>
          </a:stretch>
        </p:blipFill>
        <p:spPr>
          <a:xfrm>
            <a:off x="4572000" y="1371600"/>
            <a:ext cx="3657600" cy="2743200"/>
          </a:xfrm>
          <a:prstGeom prst="rect">
            <a:avLst/>
          </a:prstGeom>
        </p:spPr>
      </p:pic>
      <p:pic>
        <p:nvPicPr>
          <p:cNvPr id="5" name="Picture 4" descr="image.png"/>
          <p:cNvPicPr>
            <a:picLocks noChangeAspect="1"/>
          </p:cNvPicPr>
          <p:nvPr/>
        </p:nvPicPr>
        <p:blipFill>
          <a:blip r:embed="rId4"/>
          <a:stretch>
            <a:fillRect/>
          </a:stretch>
        </p:blipFill>
        <p:spPr>
          <a:xfrm>
            <a:off x="8686800" y="1371600"/>
            <a:ext cx="3017520" cy="2743200"/>
          </a:xfrm>
          <a:prstGeom prst="rect">
            <a:avLst/>
          </a:prstGeom>
        </p:spPr>
      </p:pic>
      <p:pic>
        <p:nvPicPr>
          <p:cNvPr id="6" name="Picture 5" descr="image.png"/>
          <p:cNvPicPr>
            <a:picLocks noChangeAspect="1"/>
          </p:cNvPicPr>
          <p:nvPr/>
        </p:nvPicPr>
        <p:blipFill>
          <a:blip r:embed="rId5"/>
          <a:stretch>
            <a:fillRect/>
          </a:stretch>
        </p:blipFill>
        <p:spPr>
          <a:xfrm>
            <a:off x="457200" y="4389120"/>
            <a:ext cx="5029200" cy="2011680"/>
          </a:xfrm>
          <a:prstGeom prst="rect">
            <a:avLst/>
          </a:prstGeom>
        </p:spPr>
      </p:pic>
      <p:pic>
        <p:nvPicPr>
          <p:cNvPr id="7" name="Picture 6" descr="image.png"/>
          <p:cNvPicPr>
            <a:picLocks noChangeAspect="1"/>
          </p:cNvPicPr>
          <p:nvPr/>
        </p:nvPicPr>
        <p:blipFill>
          <a:blip r:embed="rId6"/>
          <a:stretch>
            <a:fillRect/>
          </a:stretch>
        </p:blipFill>
        <p:spPr>
          <a:xfrm>
            <a:off x="5943600" y="4389120"/>
            <a:ext cx="5760720" cy="2011680"/>
          </a:xfrm>
          <a:prstGeom prst="rect">
            <a:avLst/>
          </a:prstGeom>
        </p:spPr>
      </p:pic>
      <p:sp>
        <p:nvSpPr>
          <p:cNvPr id="8" name="TextBox 7"/>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Image Collage]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6217920"/>
            <a:ext cx="4572000" cy="365760"/>
          </a:xfrm>
          <a:prstGeom prst="rect">
            <a:avLst/>
          </a:prstGeom>
          <a:noFill/>
        </p:spPr>
        <p:txBody>
          <a:bodyPr wrap="square">
            <a:spAutoFit/>
          </a:bodyPr>
          <a:lstStyle/>
          <a:p>
            <a:r>
              <a:rPr sz="900">
                <a:solidFill>
                  <a:srgbClr val="969696"/>
                </a:solidFill>
                <a:latin typeface="Arial"/>
              </a:rPr>
              <a:t>Executive Leadership Programme 2025</a:t>
            </a:r>
          </a:p>
        </p:txBody>
      </p:sp>
      <p:sp>
        <p:nvSpPr>
          <p:cNvPr id="3" name="TextBox 2"/>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Blank Branded]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1371600"/>
            <a:ext cx="8229600" cy="1828800"/>
          </a:xfrm>
          <a:prstGeom prst="rect">
            <a:avLst/>
          </a:prstGeom>
          <a:noFill/>
        </p:spPr>
        <p:txBody>
          <a:bodyPr wrap="square">
            <a:spAutoFit/>
          </a:bodyPr>
          <a:lstStyle/>
          <a:p>
            <a:pPr algn="ctr"/>
            <a:r>
              <a:rPr sz="4800" b="1">
                <a:solidFill>
                  <a:srgbClr val="282850"/>
                </a:solidFill>
                <a:latin typeface="Arial"/>
              </a:rPr>
              <a:t>Thank You</a:t>
            </a:r>
          </a:p>
        </p:txBody>
      </p:sp>
      <p:sp>
        <p:nvSpPr>
          <p:cNvPr id="3" name="TextBox 2"/>
          <p:cNvSpPr txBox="1"/>
          <p:nvPr/>
        </p:nvSpPr>
        <p:spPr>
          <a:xfrm>
            <a:off x="1828800" y="3200400"/>
            <a:ext cx="8229600" cy="914400"/>
          </a:xfrm>
          <a:prstGeom prst="rect">
            <a:avLst/>
          </a:prstGeom>
          <a:noFill/>
        </p:spPr>
        <p:txBody>
          <a:bodyPr wrap="square">
            <a:spAutoFit/>
          </a:bodyPr>
          <a:lstStyle/>
          <a:p>
            <a:pPr algn="ctr"/>
            <a:r>
              <a:rPr sz="2800">
                <a:solidFill>
                  <a:srgbClr val="646464"/>
                </a:solidFill>
                <a:latin typeface="Arial"/>
              </a:rPr>
              <a:t>Questions?</a:t>
            </a:r>
          </a:p>
        </p:txBody>
      </p:sp>
      <p:sp>
        <p:nvSpPr>
          <p:cNvPr id="4" name="TextBox 3"/>
          <p:cNvSpPr txBox="1"/>
          <p:nvPr/>
        </p:nvSpPr>
        <p:spPr>
          <a:xfrm>
            <a:off x="1828800" y="4572000"/>
            <a:ext cx="8229600" cy="1371600"/>
          </a:xfrm>
          <a:prstGeom prst="rect">
            <a:avLst/>
          </a:prstGeom>
          <a:noFill/>
        </p:spPr>
        <p:txBody>
          <a:bodyPr wrap="square">
            <a:spAutoFit/>
          </a:bodyPr>
          <a:lstStyle/>
          <a:p>
            <a:pPr algn="ctr"/>
            <a:r>
              <a:rPr sz="1600">
                <a:solidFill>
                  <a:srgbClr val="505050"/>
                </a:solidFill>
                <a:latin typeface="Arial"/>
              </a:rPr>
              <a:t>Professor Jane Smith</a:t>
            </a:r>
            <a:br/>
            <a:r>
              <a:t>j.smith@business.uq.edu.au</a:t>
            </a:r>
            <a:br/>
            <a:r>
              <a:t>+61 7 3346 8000</a:t>
            </a:r>
          </a:p>
        </p:txBody>
      </p:sp>
      <p:sp>
        <p:nvSpPr>
          <p:cNvPr id="5" name="TextBox 4"/>
          <p:cNvSpPr txBox="1"/>
          <p:nvPr/>
        </p:nvSpPr>
        <p:spPr>
          <a:xfrm>
            <a:off x="182880" y="6400800"/>
            <a:ext cx="5486400" cy="365760"/>
          </a:xfrm>
          <a:prstGeom prst="rect">
            <a:avLst/>
          </a:prstGeom>
          <a:noFill/>
        </p:spPr>
        <p:txBody>
          <a:bodyPr wrap="square">
            <a:spAutoFit/>
          </a:bodyPr>
          <a:lstStyle/>
          <a:p>
            <a:r>
              <a:rPr sz="800">
                <a:solidFill>
                  <a:srgbClr val="969696"/>
                </a:solidFill>
                <a:latin typeface="Arial"/>
              </a:rPr>
              <a:t>[Test slide for: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