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1247A"/>
                </a:solidFill>
              </a:defRPr>
            </a:pPr>
            <a:r>
              <a:t>Strategic Leadership in Digital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UQ Business School Executive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Professor Jane Smith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247A"/>
                </a:solidFill>
              </a:defRPr>
            </a:pPr>
            <a:r>
              <a:t>Session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Foundations of Digital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What is Digital Transformation?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Digital transformation is the process of using digital technologies to create new — or modify existing — business processes, culture, and customer experiences.</a:t>
            </a:r>
          </a:p>
          <a:p/>
          <a:p>
            <a:pPr>
              <a:defRPr sz="1400"/>
            </a:pPr>
            <a:r>
              <a:t>Key elements include:</a:t>
            </a:r>
          </a:p>
          <a:p>
            <a:pPr>
              <a:defRPr sz="1400"/>
            </a:pPr>
            <a:r>
              <a:t>• Technology adoption and integration</a:t>
            </a:r>
          </a:p>
          <a:p>
            <a:pPr>
              <a:defRPr sz="1400"/>
            </a:pPr>
            <a:r>
              <a:t>• Organisational culture change</a:t>
            </a:r>
          </a:p>
          <a:p>
            <a:pPr>
              <a:defRPr sz="1400"/>
            </a:pPr>
            <a:r>
              <a:t>• Customer experience redesign</a:t>
            </a:r>
          </a:p>
          <a:p>
            <a:pPr>
              <a:defRPr sz="1400"/>
            </a:pPr>
            <a:r>
              <a:t>• Data-driven decision making</a:t>
            </a:r>
          </a:p>
          <a:p>
            <a:pPr>
              <a:defRPr sz="1400"/>
            </a:pPr>
            <a:r>
              <a:t>• Agile and iterative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Executive Education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The Innovation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Innovation follows a predictable lifecycle from ideation through implementation.</a:t>
            </a:r>
          </a:p>
          <a:p>
            <a:pPr>
              <a:defRPr sz="1400"/>
            </a:pPr>
            <a:r>
              <a:t>• Ideation: Generating new concepts</a:t>
            </a:r>
          </a:p>
          <a:p>
            <a:pPr>
              <a:defRPr sz="1400"/>
            </a:pPr>
            <a:r>
              <a:t>• Validation: Testing feasibility</a:t>
            </a:r>
          </a:p>
          <a:p>
            <a:pPr>
              <a:defRPr sz="1400"/>
            </a:pPr>
            <a:r>
              <a:t>• Development: Building the solution</a:t>
            </a:r>
          </a:p>
          <a:p>
            <a:pPr>
              <a:defRPr sz="1400"/>
            </a:pPr>
            <a:r>
              <a:t>• Scale: Rolling out across the organisation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3200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Programme Schedule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40080"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Facilitator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9:00 – 10:30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Digital Strategy Foundations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Prof. Smith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10:45 – 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Innovation Frameworks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Dr. Jones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13:00 – 14:30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Customer Experience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Prof. Smith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14:45 – 16:00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Workshop: Your Digital Roadmap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Traditional vs Digital Business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Traditional Model</a:t>
            </a:r>
          </a:p>
          <a:p>
            <a:pPr>
              <a:defRPr sz="1400"/>
            </a:pPr>
            <a:r>
              <a:t>• Linear value chain</a:t>
            </a:r>
          </a:p>
          <a:p>
            <a:pPr>
              <a:defRPr sz="1400"/>
            </a:pPr>
            <a:r>
              <a:t>• Physical distribution</a:t>
            </a:r>
          </a:p>
          <a:p>
            <a:pPr>
              <a:defRPr sz="1400"/>
            </a:pPr>
            <a:r>
              <a:t>• Mass marketing</a:t>
            </a:r>
          </a:p>
          <a:p>
            <a:pPr>
              <a:defRPr sz="1400"/>
            </a:pPr>
            <a:r>
              <a:t>• Product-centric focus</a:t>
            </a:r>
          </a:p>
          <a:p>
            <a:pPr>
              <a:defRPr sz="1400"/>
            </a:pPr>
            <a:r>
              <a:t>• Slow iteration cycles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Digital Model</a:t>
            </a:r>
          </a:p>
          <a:p>
            <a:pPr>
              <a:defRPr sz="1400"/>
            </a:pPr>
            <a:r>
              <a:t>• Platform ecosystems</a:t>
            </a:r>
          </a:p>
          <a:p>
            <a:pPr>
              <a:defRPr sz="1400"/>
            </a:pPr>
            <a:r>
              <a:t>• Digital distribution</a:t>
            </a:r>
          </a:p>
          <a:p>
            <a:pPr>
              <a:defRPr sz="1400"/>
            </a:pPr>
            <a:r>
              <a:t>• Personalised experiences</a:t>
            </a:r>
          </a:p>
          <a:p>
            <a:pPr>
              <a:defRPr sz="1400"/>
            </a:pPr>
            <a:r>
              <a:t>• Customer-centric focus</a:t>
            </a:r>
          </a:p>
          <a:p>
            <a:pPr>
              <a:defRPr sz="1400"/>
            </a:pPr>
            <a:r>
              <a:t>• Rapid experimentation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/>
            </a:pPr>
            <a:r>
              <a:t>“The greatest danger in times of turbulence is not the turbulence itself, but to act with yesterday’s logic.”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— Peter Drucker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Digital Maturity Framework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247A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Experience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Discussion: Your Organisation's Digital Maturity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In small groups, discuss the following questions:</a:t>
            </a:r>
          </a:p>
          <a:p>
            <a:pPr>
              <a:defRPr sz="1400"/>
            </a:pPr>
            <a:r>
              <a:t>• Where does your organisation sit on the digital maturity scale?</a:t>
            </a:r>
          </a:p>
          <a:p>
            <a:pPr>
              <a:defRPr sz="1400"/>
            </a:pPr>
            <a:r>
              <a:t>• What are the biggest barriers to digital transformation?</a:t>
            </a:r>
          </a:p>
          <a:p>
            <a:pPr>
              <a:defRPr sz="1400"/>
            </a:pPr>
            <a:r>
              <a:t>• What quick wins could you implement in the next 90 days?</a:t>
            </a:r>
          </a:p>
          <a:p>
            <a:pPr>
              <a:defRPr sz="1400"/>
            </a:pPr>
            <a:r>
              <a:t>• How would you measure success?</a:t>
            </a:r>
          </a:p>
          <a:p/>
          <a:p>
            <a:pPr>
              <a:defRPr sz="1400" b="1"/>
            </a:pPr>
            <a:r>
              <a:t>You have 15 minutes for this activity.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51247A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Professor Jane Smith</a:t>
            </a:r>
          </a:p>
          <a:p>
            <a:pPr>
              <a:defRPr sz="1400"/>
            </a:pPr>
            <a:r>
              <a:t>j.smith@business.uq.edu.au</a:t>
            </a:r>
          </a:p>
          <a:p>
            <a:pPr>
              <a:defRPr sz="1400"/>
            </a:pPr>
            <a:r>
              <a:t>+61 7 3346 8000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The Three Horizons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</a:t>
            </a:r>
          </a:p>
          <a:p>
            <a:pPr>
              <a:defRPr sz="1200"/>
            </a:pPr>
            <a:r>
              <a:t>Organisations must manage all three horizons simultaneously to ensure long-term viability.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Horizon 1: Core Business</a:t>
            </a:r>
          </a:p>
          <a:p>
            <a:pPr>
              <a:defRPr sz="1200"/>
            </a:pPr>
            <a:r>
              <a:t>• Optimise current operations and revenue streams</a:t>
            </a:r>
          </a:p>
          <a:p>
            <a:pPr>
              <a:defRPr sz="1200"/>
            </a:pPr>
            <a:r>
              <a:t>• Defend market position against competitors</a:t>
            </a:r>
          </a:p>
          <a:p/>
          <a:p>
            <a:pPr>
              <a:defRPr sz="1400" b="1"/>
            </a:pPr>
            <a:r>
              <a:t>Horizon 2: Emerging Opportunities</a:t>
            </a:r>
          </a:p>
          <a:p>
            <a:pPr>
              <a:defRPr sz="1200"/>
            </a:pPr>
            <a:r>
              <a:t>• Scale new ventures and business models</a:t>
            </a:r>
          </a:p>
          <a:p>
            <a:pPr>
              <a:defRPr sz="1200"/>
            </a:pPr>
            <a:r>
              <a:t>• Build capabilities for future growth</a:t>
            </a:r>
          </a:p>
          <a:p/>
          <a:p>
            <a:pPr>
              <a:defRPr sz="1400" b="1"/>
            </a:pPr>
            <a:r>
              <a:t>Horizon 3: Future Innovation</a:t>
            </a:r>
          </a:p>
          <a:p>
            <a:pPr>
              <a:defRPr sz="1200"/>
            </a:pPr>
            <a:r>
              <a:t>• Explore disruptive ideas and technologies</a:t>
            </a:r>
          </a:p>
          <a:p>
            <a:pPr>
              <a:defRPr sz="1200"/>
            </a:pPr>
            <a:r>
              <a:t>• Create options for long-term transformation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Implementing Change: The ADKAR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Awareness: Create understanding of why change is needed. Communicate the business case and risks of not changing.</a:t>
            </a:r>
          </a:p>
          <a:p>
            <a:pPr>
              <a:defRPr sz="1200"/>
            </a:pPr>
            <a:r>
              <a:t>Desire: Foster personal motivation to participate. Address 'what's in it for me?' for each stakeholder group.</a:t>
            </a:r>
          </a:p>
          <a:p>
            <a:pPr>
              <a:defRPr sz="1200"/>
            </a:pPr>
            <a:r>
              <a:t>Knowledge: Provide training and education on how to change. Include both technical skills and new behaviours.</a:t>
            </a:r>
          </a:p>
          <a:p>
            <a:pPr>
              <a:defRPr sz="1200"/>
            </a:pPr>
            <a:r>
              <a:t>Ability: Support people in putting knowledge into practice. Allow time for coaching and feedback loops.</a:t>
            </a:r>
          </a:p>
          <a:p>
            <a:pPr>
              <a:defRPr sz="1200"/>
            </a:pPr>
            <a:r>
              <a:t>Reinforcement: Sustain the change through recognition, rewards, and embedding new processes into BAU.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3716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Remember</a:t>
            </a:r>
          </a:p>
          <a:p>
            <a:pPr>
              <a:defRPr sz="1100"/>
            </a:pPr>
            <a:r>
              <a:t>Change happens one person at a time. Each stage must be completed before moving to the next.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